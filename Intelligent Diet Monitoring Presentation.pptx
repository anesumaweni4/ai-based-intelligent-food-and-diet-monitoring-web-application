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01BDA-0336-A57C-EEC7-B542449D9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9A39F-CE4F-B6E1-B8F3-F11569D35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FFFB4-254D-ED6F-3D88-8AF3480B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AB74-C7D0-488C-A9FD-3629C472133E}" type="datetimeFigureOut">
              <a:rPr lang="en-ZW" smtClean="0"/>
              <a:t>9/10/2026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B40EB-BD96-791F-05F1-462906F21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29D0F-E784-BC81-53D3-6F07ADBC2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647F8-F0FA-4751-8DB8-EE766DFB0B32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544940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884F-5FD7-3EB8-F71D-66D76248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DD1B8-D0F2-6074-8A4F-660C0D372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2979F-CB5A-594F-15D8-54C4911D9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AB74-C7D0-488C-A9FD-3629C472133E}" type="datetimeFigureOut">
              <a:rPr lang="en-ZW" smtClean="0"/>
              <a:t>9/10/2026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32D53-7334-1163-A657-55CCB753B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D6A0C-75A1-3608-D97E-7C06A7443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647F8-F0FA-4751-8DB8-EE766DFB0B32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531784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F21F-FB97-6B23-CD12-5CB1650B8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2BBD5-08F0-7DC3-282B-FCCF44474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74E1F-2C87-AEAF-57AE-9F68695BF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AB74-C7D0-488C-A9FD-3629C472133E}" type="datetimeFigureOut">
              <a:rPr lang="en-ZW" smtClean="0"/>
              <a:t>9/10/2026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22799-FADC-F14B-F1FA-445776B64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0763D-7E23-9CE4-143C-04183683F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647F8-F0FA-4751-8DB8-EE766DFB0B32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548319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DA0AD-4842-5B1D-9A7B-E412BC690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94481-07DC-C34E-5997-71D0E8900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4F0AD0-0ADF-263C-7C12-EEDA625DF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DD769-5A05-1FFF-C3FA-0565DDA44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AB74-C7D0-488C-A9FD-3629C472133E}" type="datetimeFigureOut">
              <a:rPr lang="en-ZW" smtClean="0"/>
              <a:t>9/10/2026</a:t>
            </a:fld>
            <a:endParaRPr lang="en-Z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4B6D3-1C2C-81A5-93BE-19CB47082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5886E-D0F3-F117-82B8-E9BEECB5F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647F8-F0FA-4751-8DB8-EE766DFB0B32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566132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84B10-B71F-ACAE-AF17-BF4CCA40D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BE1E7-962F-407A-6717-CA361C221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3A04A-37A6-312A-0996-DFDC92A38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FA3A69-D5A0-33AF-D59F-94F4BBEC11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D6D6B-271C-8F53-8FF4-E11D06BFBB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8DB0F9-E7B6-D078-6BF4-EE5D72046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AB74-C7D0-488C-A9FD-3629C472133E}" type="datetimeFigureOut">
              <a:rPr lang="en-ZW" smtClean="0"/>
              <a:t>9/10/2026</a:t>
            </a:fld>
            <a:endParaRPr lang="en-Z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311C7E-B872-74D9-E0B5-EDB6B63B8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0A6D90-3F57-120C-2BFF-6AD11D18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647F8-F0FA-4751-8DB8-EE766DFB0B32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134210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581F-EE8F-1101-4288-C7C250F49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D611DA-C1A2-D070-6003-BE1AF5991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AB74-C7D0-488C-A9FD-3629C472133E}" type="datetimeFigureOut">
              <a:rPr lang="en-ZW" smtClean="0"/>
              <a:t>9/10/2026</a:t>
            </a:fld>
            <a:endParaRPr lang="en-Z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379C08-B4CA-6840-1C04-CF02D24D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0E334-525C-5600-76A4-5F35DC25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647F8-F0FA-4751-8DB8-EE766DFB0B32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809877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4C8681-6036-DECF-94BE-A0FFC301B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AB74-C7D0-488C-A9FD-3629C472133E}" type="datetimeFigureOut">
              <a:rPr lang="en-ZW" smtClean="0"/>
              <a:t>9/10/2026</a:t>
            </a:fld>
            <a:endParaRPr lang="en-Z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FAACF3-5ABE-A1AB-E7FA-430FA0347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EB5EA-081F-D6A4-4F87-47E9EBCEB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647F8-F0FA-4751-8DB8-EE766DFB0B32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843407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60478-02E1-4D2A-35CC-04BA49895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4F380-F89F-4474-E1DD-D9F8A71A1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E88E8-0948-379F-DEDB-E2033474B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BE234-587D-F69C-54AC-0A5BA6B4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AB74-C7D0-488C-A9FD-3629C472133E}" type="datetimeFigureOut">
              <a:rPr lang="en-ZW" smtClean="0"/>
              <a:t>9/10/2026</a:t>
            </a:fld>
            <a:endParaRPr lang="en-Z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5A40C-1207-AA2C-FAE9-9E9BD7A68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8BF34-4E74-313F-70F5-F95754E2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647F8-F0FA-4751-8DB8-EE766DFB0B32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58362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DD599-9EFA-10FE-3C04-2521D2100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1F0B4-A669-F6ED-8EC4-B3309F0E6B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DA65F-9953-BDFE-4889-50218E2B8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56FAC-608F-68F5-2025-B929A73E0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AB74-C7D0-488C-A9FD-3629C472133E}" type="datetimeFigureOut">
              <a:rPr lang="en-ZW" smtClean="0"/>
              <a:t>9/10/2026</a:t>
            </a:fld>
            <a:endParaRPr lang="en-Z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7EA5B-C223-BCF9-1293-3120C24AD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53A1B-BE8C-A220-089E-22BC22D1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647F8-F0FA-4751-8DB8-EE766DFB0B32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377736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5EF1-53DB-86FF-4DB3-44871F07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D2F5E-6235-C637-7578-AAE26A0AE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E49BB-E67E-54EF-A40C-812F4EB1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AB74-C7D0-488C-A9FD-3629C472133E}" type="datetimeFigureOut">
              <a:rPr lang="en-ZW" smtClean="0"/>
              <a:t>9/10/2026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674D5-21A9-33EA-79ED-B2C3B238C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F4C6B-73C8-DA77-0F41-130CCA1C2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647F8-F0FA-4751-8DB8-EE766DFB0B32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155209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FC4D51-54DC-2D41-A71E-20C010B540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2F0A9-F074-9B6F-D1B9-F98720468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C4061-21F2-5525-A2AC-7CAC812D7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AB74-C7D0-488C-A9FD-3629C472133E}" type="datetimeFigureOut">
              <a:rPr lang="en-ZW" smtClean="0"/>
              <a:t>9/10/2026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B3F58-0749-3ADB-3BA8-7B5D9F9A5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65BAD-D5C4-91B8-FD8C-7DCE9C37B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647F8-F0FA-4751-8DB8-EE766DFB0B32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789201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8B4E1-C954-9CAB-54EE-8E645A647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FF2E2-B8FA-BF9A-C1E3-88C24B352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4EDB7-D0C1-CBDA-E7F0-AB19E5143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DAB74-C7D0-488C-A9FD-3629C472133E}" type="datetimeFigureOut">
              <a:rPr lang="en-ZW" smtClean="0"/>
              <a:t>9/10/2026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7984C-978A-0E3C-CADF-AA43ED85FF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E543E-3B6D-D3DC-6AC9-03F6AD90C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647F8-F0FA-4751-8DB8-EE766DFB0B32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802026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A028CBA-9883-67A5-2518-FABBCF31DDF7}"/>
              </a:ext>
            </a:extLst>
          </p:cNvPr>
          <p:cNvSpPr/>
          <p:nvPr/>
        </p:nvSpPr>
        <p:spPr>
          <a:xfrm>
            <a:off x="8534400" y="0"/>
            <a:ext cx="3657600" cy="6858000"/>
          </a:xfrm>
          <a:prstGeom prst="roundRect">
            <a:avLst/>
          </a:prstGeom>
          <a:solidFill>
            <a:srgbClr val="1A2F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07A2D84-72C4-C5F2-FCF9-6B4AA8A8A5FD}"/>
              </a:ext>
            </a:extLst>
          </p:cNvPr>
          <p:cNvSpPr/>
          <p:nvPr/>
        </p:nvSpPr>
        <p:spPr>
          <a:xfrm>
            <a:off x="8890000" y="939800"/>
            <a:ext cx="2260600" cy="2260600"/>
          </a:xfrm>
          <a:prstGeom prst="ellipse">
            <a:avLst/>
          </a:prstGeom>
          <a:solidFill>
            <a:srgbClr val="43BE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F483A66-4679-CD19-199A-7A6BC32BBB5E}"/>
              </a:ext>
            </a:extLst>
          </p:cNvPr>
          <p:cNvSpPr/>
          <p:nvPr/>
        </p:nvSpPr>
        <p:spPr>
          <a:xfrm>
            <a:off x="9779000" y="3302000"/>
            <a:ext cx="1397000" cy="1397000"/>
          </a:xfrm>
          <a:prstGeom prst="ellipse">
            <a:avLst/>
          </a:prstGeom>
          <a:solidFill>
            <a:srgbClr val="F6AB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BEAC0F9-D4F3-C208-B461-84743DE68B30}"/>
              </a:ext>
            </a:extLst>
          </p:cNvPr>
          <p:cNvSpPr/>
          <p:nvPr/>
        </p:nvSpPr>
        <p:spPr>
          <a:xfrm>
            <a:off x="8382000" y="4318000"/>
            <a:ext cx="1041400" cy="1041400"/>
          </a:xfrm>
          <a:prstGeom prst="ellipse">
            <a:avLst/>
          </a:prstGeom>
          <a:solidFill>
            <a:srgbClr val="DEF7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5CA522-F534-DEF7-593F-7364EDE44E47}"/>
              </a:ext>
            </a:extLst>
          </p:cNvPr>
          <p:cNvSpPr txBox="1"/>
          <p:nvPr/>
        </p:nvSpPr>
        <p:spPr>
          <a:xfrm>
            <a:off x="787400" y="838200"/>
            <a:ext cx="6985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200" b="1" dirty="0">
                <a:solidFill>
                  <a:srgbClr val="43BE8B"/>
                </a:solidFill>
                <a:latin typeface="Aptos" panose="020B0004020202020204" pitchFamily="34" charset="0"/>
              </a:rPr>
              <a:t>PROJECT PRESENTATION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0219E-B420-24C5-9FBC-097D365053EA}"/>
              </a:ext>
            </a:extLst>
          </p:cNvPr>
          <p:cNvSpPr txBox="1"/>
          <p:nvPr/>
        </p:nvSpPr>
        <p:spPr>
          <a:xfrm>
            <a:off x="762000" y="1841500"/>
            <a:ext cx="8128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3800" b="1" dirty="0">
                <a:solidFill>
                  <a:srgbClr val="FFFFFF"/>
                </a:solidFill>
                <a:latin typeface="Aptos" panose="020B0004020202020204" pitchFamily="34" charset="0"/>
              </a:rPr>
              <a:t>INTELLIGENT FOOD</a:t>
            </a:r>
          </a:p>
          <a:p>
            <a:r>
              <a:rPr lang="en-ZW" sz="3800" b="1" dirty="0">
                <a:solidFill>
                  <a:srgbClr val="FFFFFF"/>
                </a:solidFill>
                <a:latin typeface="Aptos" panose="020B0004020202020204" pitchFamily="34" charset="0"/>
              </a:rPr>
              <a:t>DIET MONITORING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F7A42D-FD34-4DE3-20B4-A95CFCFEC587}"/>
              </a:ext>
            </a:extLst>
          </p:cNvPr>
          <p:cNvSpPr txBox="1"/>
          <p:nvPr/>
        </p:nvSpPr>
        <p:spPr>
          <a:xfrm>
            <a:off x="812800" y="3886200"/>
            <a:ext cx="7175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900" dirty="0">
                <a:solidFill>
                  <a:srgbClr val="DEF7EC"/>
                </a:solidFill>
                <a:latin typeface="Aptos" panose="020B0004020202020204" pitchFamily="34" charset="0"/>
              </a:rPr>
              <a:t>A web-based prototype with an AI nutrition model in progress</a:t>
            </a:r>
            <a:endParaRPr lang="en-ZW" sz="1900" dirty="0">
              <a:solidFill>
                <a:srgbClr val="DEF7EC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FB9928-9E5E-03C3-8DF5-4D7FC1CB2BF6}"/>
              </a:ext>
            </a:extLst>
          </p:cNvPr>
          <p:cNvSpPr/>
          <p:nvPr/>
        </p:nvSpPr>
        <p:spPr>
          <a:xfrm>
            <a:off x="812800" y="5092700"/>
            <a:ext cx="939800" cy="50800"/>
          </a:xfrm>
          <a:prstGeom prst="rect">
            <a:avLst/>
          </a:prstGeom>
          <a:solidFill>
            <a:srgbClr val="43BE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32C8A4-AD3A-131E-346D-133B826A1B19}"/>
              </a:ext>
            </a:extLst>
          </p:cNvPr>
          <p:cNvSpPr txBox="1"/>
          <p:nvPr/>
        </p:nvSpPr>
        <p:spPr>
          <a:xfrm>
            <a:off x="812800" y="5410200"/>
            <a:ext cx="5334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600" b="1">
                <a:solidFill>
                  <a:srgbClr val="FFFFFF"/>
                </a:solidFill>
                <a:latin typeface="Aptos" panose="020B0004020202020204" pitchFamily="34" charset="0"/>
              </a:rPr>
              <a:t>Presented by Anesu Maweni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A08537-9C43-9946-6515-204211B47615}"/>
              </a:ext>
            </a:extLst>
          </p:cNvPr>
          <p:cNvSpPr txBox="1"/>
          <p:nvPr/>
        </p:nvSpPr>
        <p:spPr>
          <a:xfrm>
            <a:off x="812800" y="5918200"/>
            <a:ext cx="7048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200">
                <a:solidFill>
                  <a:srgbClr val="DEF7EC"/>
                </a:solidFill>
                <a:latin typeface="Aptos" panose="020B0004020202020204" pitchFamily="34" charset="0"/>
              </a:rPr>
              <a:t>Current build: food ordering and management prototype</a:t>
            </a:r>
            <a:endParaRPr lang="en-ZW" sz="1200">
              <a:solidFill>
                <a:srgbClr val="DEF7EC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0E21F8-4953-E2D0-5710-2F448B1B86ED}"/>
              </a:ext>
            </a:extLst>
          </p:cNvPr>
          <p:cNvSpPr txBox="1"/>
          <p:nvPr/>
        </p:nvSpPr>
        <p:spPr>
          <a:xfrm>
            <a:off x="10985500" y="6477000"/>
            <a:ext cx="4826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000" b="1">
                <a:solidFill>
                  <a:srgbClr val="43BE8B"/>
                </a:solidFill>
                <a:latin typeface="Aptos" panose="020B00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00179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AF3457-3DD4-F2DB-0EA4-314A4388DFD9}"/>
              </a:ext>
            </a:extLst>
          </p:cNvPr>
          <p:cNvSpPr txBox="1"/>
          <p:nvPr/>
        </p:nvSpPr>
        <p:spPr>
          <a:xfrm>
            <a:off x="711200" y="406400"/>
            <a:ext cx="10414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100" b="1">
                <a:solidFill>
                  <a:srgbClr val="43BE8B"/>
                </a:solidFill>
                <a:latin typeface="Aptos" panose="020B0004020202020204" pitchFamily="34" charset="0"/>
              </a:rPr>
              <a:t>01 | THE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6734BA-CABD-C992-C7C1-B68AE51FBC7F}"/>
              </a:ext>
            </a:extLst>
          </p:cNvPr>
          <p:cNvSpPr txBox="1"/>
          <p:nvPr/>
        </p:nvSpPr>
        <p:spPr>
          <a:xfrm>
            <a:off x="711200" y="787400"/>
            <a:ext cx="10795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2900" b="1" dirty="0">
                <a:solidFill>
                  <a:srgbClr val="111F30"/>
                </a:solidFill>
                <a:latin typeface="Aptos" panose="020B0004020202020204" pitchFamily="34" charset="0"/>
              </a:rPr>
              <a:t>Why Food diet monitoring matters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4DF25-2566-97D9-1E6D-090690EB286B}"/>
              </a:ext>
            </a:extLst>
          </p:cNvPr>
          <p:cNvSpPr txBox="1"/>
          <p:nvPr/>
        </p:nvSpPr>
        <p:spPr>
          <a:xfrm>
            <a:off x="723900" y="1498600"/>
            <a:ext cx="10604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400">
                <a:solidFill>
                  <a:srgbClr val="687880"/>
                </a:solidFill>
                <a:latin typeface="Aptos" panose="020B0004020202020204" pitchFamily="34" charset="0"/>
              </a:rPr>
              <a:t>The project aims to make everyday food choices easier to understand and improve over time.</a:t>
            </a:r>
            <a:endParaRPr lang="en-ZW" sz="14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0DBCFA-B6C6-239E-7EA8-13C31E72CE98}"/>
              </a:ext>
            </a:extLst>
          </p:cNvPr>
          <p:cNvSpPr/>
          <p:nvPr/>
        </p:nvSpPr>
        <p:spPr>
          <a:xfrm>
            <a:off x="711200" y="6413500"/>
            <a:ext cx="10769600" cy="12700"/>
          </a:xfrm>
          <a:prstGeom prst="rect">
            <a:avLst/>
          </a:prstGeom>
          <a:solidFill>
            <a:srgbClr val="EDF3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910168-2F0C-5F87-7A44-56442BF2EE4A}"/>
              </a:ext>
            </a:extLst>
          </p:cNvPr>
          <p:cNvSpPr txBox="1"/>
          <p:nvPr/>
        </p:nvSpPr>
        <p:spPr>
          <a:xfrm>
            <a:off x="711200" y="6502400"/>
            <a:ext cx="9017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900">
                <a:solidFill>
                  <a:srgbClr val="687880"/>
                </a:solidFill>
                <a:latin typeface="Aptos" panose="020B0004020202020204" pitchFamily="34" charset="0"/>
              </a:rPr>
              <a:t>INTELLIGENT DIET MONITORING  |  PROJECT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5FD6C3-0D98-B27E-EEF1-EC893BD66694}"/>
              </a:ext>
            </a:extLst>
          </p:cNvPr>
          <p:cNvSpPr txBox="1"/>
          <p:nvPr/>
        </p:nvSpPr>
        <p:spPr>
          <a:xfrm>
            <a:off x="10985500" y="6477000"/>
            <a:ext cx="4826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000" b="1">
                <a:solidFill>
                  <a:srgbClr val="43BE8B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4893C0-CF7A-0453-7A7A-8F584D5CCD2C}"/>
              </a:ext>
            </a:extLst>
          </p:cNvPr>
          <p:cNvSpPr/>
          <p:nvPr/>
        </p:nvSpPr>
        <p:spPr>
          <a:xfrm>
            <a:off x="723900" y="2324100"/>
            <a:ext cx="3352800" cy="30226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93CBCC-F5BE-FCED-AEF7-30ABF5FC5C2B}"/>
              </a:ext>
            </a:extLst>
          </p:cNvPr>
          <p:cNvSpPr/>
          <p:nvPr/>
        </p:nvSpPr>
        <p:spPr>
          <a:xfrm>
            <a:off x="723900" y="2324100"/>
            <a:ext cx="76200" cy="3022600"/>
          </a:xfrm>
          <a:prstGeom prst="rect">
            <a:avLst/>
          </a:prstGeom>
          <a:solidFill>
            <a:srgbClr val="43BE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435A9F-0E3C-81C9-3FED-6C51192E2117}"/>
              </a:ext>
            </a:extLst>
          </p:cNvPr>
          <p:cNvSpPr txBox="1"/>
          <p:nvPr/>
        </p:nvSpPr>
        <p:spPr>
          <a:xfrm>
            <a:off x="977900" y="2540000"/>
            <a:ext cx="28829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Eating patterns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5D027-16F7-B81F-1925-F08D65A3EBE8}"/>
              </a:ext>
            </a:extLst>
          </p:cNvPr>
          <p:cNvSpPr txBox="1"/>
          <p:nvPr/>
        </p:nvSpPr>
        <p:spPr>
          <a:xfrm>
            <a:off x="977900" y="2997200"/>
            <a:ext cx="2857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People may find it difficult to keep a consistent record of meals and food choices.</a:t>
            </a:r>
            <a:endParaRPr lang="en-ZW" sz="13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6DCAA1-3106-580A-F21D-56372544D597}"/>
              </a:ext>
            </a:extLst>
          </p:cNvPr>
          <p:cNvSpPr/>
          <p:nvPr/>
        </p:nvSpPr>
        <p:spPr>
          <a:xfrm>
            <a:off x="4419600" y="2324100"/>
            <a:ext cx="3352800" cy="30226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AA8EA3-34B4-56C1-15E4-EC1A9764DB3C}"/>
              </a:ext>
            </a:extLst>
          </p:cNvPr>
          <p:cNvSpPr/>
          <p:nvPr/>
        </p:nvSpPr>
        <p:spPr>
          <a:xfrm>
            <a:off x="4419600" y="2324100"/>
            <a:ext cx="76200" cy="3022600"/>
          </a:xfrm>
          <a:prstGeom prst="rect">
            <a:avLst/>
          </a:prstGeom>
          <a:solidFill>
            <a:srgbClr val="F6AB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34D3BB-7321-E63F-2598-18865F658F90}"/>
              </a:ext>
            </a:extLst>
          </p:cNvPr>
          <p:cNvSpPr txBox="1"/>
          <p:nvPr/>
        </p:nvSpPr>
        <p:spPr>
          <a:xfrm>
            <a:off x="4673600" y="2540000"/>
            <a:ext cx="28829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Nutrition visibility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06674F-B1DB-8B8D-914C-F6B92A3F4ED5}"/>
              </a:ext>
            </a:extLst>
          </p:cNvPr>
          <p:cNvSpPr txBox="1"/>
          <p:nvPr/>
        </p:nvSpPr>
        <p:spPr>
          <a:xfrm>
            <a:off x="4673600" y="2997200"/>
            <a:ext cx="2857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Without clear food information, it can be hard to compare a meal with personal health goals.</a:t>
            </a:r>
            <a:endParaRPr lang="en-ZW" sz="13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38DFFE1-F368-4872-FE23-429961240F07}"/>
              </a:ext>
            </a:extLst>
          </p:cNvPr>
          <p:cNvSpPr/>
          <p:nvPr/>
        </p:nvSpPr>
        <p:spPr>
          <a:xfrm>
            <a:off x="8115300" y="2324100"/>
            <a:ext cx="3352800" cy="30226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881A91-B164-6BDE-3C5E-1E873103B347}"/>
              </a:ext>
            </a:extLst>
          </p:cNvPr>
          <p:cNvSpPr/>
          <p:nvPr/>
        </p:nvSpPr>
        <p:spPr>
          <a:xfrm>
            <a:off x="8115300" y="2324100"/>
            <a:ext cx="76200" cy="3022600"/>
          </a:xfrm>
          <a:prstGeom prst="rect">
            <a:avLst/>
          </a:prstGeom>
          <a:solidFill>
            <a:srgbClr val="43BE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068751-AC71-D6B0-62B1-89D429BE6FC0}"/>
              </a:ext>
            </a:extLst>
          </p:cNvPr>
          <p:cNvSpPr txBox="1"/>
          <p:nvPr/>
        </p:nvSpPr>
        <p:spPr>
          <a:xfrm>
            <a:off x="8369300" y="2540000"/>
            <a:ext cx="28829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Useful guidance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956AE7-7085-5F3A-7E96-85F735EF48DF}"/>
              </a:ext>
            </a:extLst>
          </p:cNvPr>
          <p:cNvSpPr txBox="1"/>
          <p:nvPr/>
        </p:nvSpPr>
        <p:spPr>
          <a:xfrm>
            <a:off x="8369300" y="2997200"/>
            <a:ext cx="2857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A monitoring tool could turn a meal history into practical, personalized guidance.</a:t>
            </a:r>
            <a:endParaRPr lang="en-ZW" sz="13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8B759F-D353-E9BE-A521-2A90644CC898}"/>
              </a:ext>
            </a:extLst>
          </p:cNvPr>
          <p:cNvSpPr txBox="1"/>
          <p:nvPr/>
        </p:nvSpPr>
        <p:spPr>
          <a:xfrm>
            <a:off x="889000" y="5638800"/>
            <a:ext cx="10414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600" b="1">
                <a:solidFill>
                  <a:srgbClr val="111F30"/>
                </a:solidFill>
                <a:latin typeface="Aptos" panose="020B0004020202020204" pitchFamily="34" charset="0"/>
              </a:rPr>
              <a:t>Project motivation: support more informed food choices through accessible digital tools.</a:t>
            </a:r>
            <a:endParaRPr lang="en-ZW" sz="1600" b="1">
              <a:solidFill>
                <a:srgbClr val="111F3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851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0BCFB2-3F48-1990-6C0E-CF512571D9F1}"/>
              </a:ext>
            </a:extLst>
          </p:cNvPr>
          <p:cNvSpPr txBox="1"/>
          <p:nvPr/>
        </p:nvSpPr>
        <p:spPr>
          <a:xfrm>
            <a:off x="711200" y="406400"/>
            <a:ext cx="10414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100" b="1">
                <a:solidFill>
                  <a:srgbClr val="43BE8B"/>
                </a:solidFill>
                <a:latin typeface="Aptos" panose="020B0004020202020204" pitchFamily="34" charset="0"/>
              </a:rPr>
              <a:t>02 | PROJECT DIRECTION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7E874-F257-EB3C-4591-81AF65C5DF48}"/>
              </a:ext>
            </a:extLst>
          </p:cNvPr>
          <p:cNvSpPr txBox="1"/>
          <p:nvPr/>
        </p:nvSpPr>
        <p:spPr>
          <a:xfrm>
            <a:off x="711200" y="787400"/>
            <a:ext cx="10795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2900" b="1">
                <a:solidFill>
                  <a:srgbClr val="111F30"/>
                </a:solidFill>
                <a:latin typeface="Aptos" panose="020B0004020202020204" pitchFamily="34" charset="0"/>
              </a:rPr>
              <a:t>Aim and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BDF78-129C-5605-D310-43CB03BE66AA}"/>
              </a:ext>
            </a:extLst>
          </p:cNvPr>
          <p:cNvSpPr txBox="1"/>
          <p:nvPr/>
        </p:nvSpPr>
        <p:spPr>
          <a:xfrm>
            <a:off x="723900" y="1498600"/>
            <a:ext cx="10604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400">
                <a:solidFill>
                  <a:srgbClr val="687880"/>
                </a:solidFill>
                <a:latin typeface="Aptos" panose="020B0004020202020204" pitchFamily="34" charset="0"/>
              </a:rPr>
              <a:t>The long-term goal is intelligent dietary support; the current software is an early web prototype.</a:t>
            </a:r>
            <a:endParaRPr lang="en-ZW" sz="14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C52C30-3A17-157F-134D-E1801A2FA184}"/>
              </a:ext>
            </a:extLst>
          </p:cNvPr>
          <p:cNvSpPr/>
          <p:nvPr/>
        </p:nvSpPr>
        <p:spPr>
          <a:xfrm>
            <a:off x="711200" y="6413500"/>
            <a:ext cx="10769600" cy="12700"/>
          </a:xfrm>
          <a:prstGeom prst="rect">
            <a:avLst/>
          </a:prstGeom>
          <a:solidFill>
            <a:srgbClr val="EDF3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CFACF0-B895-CE9C-C074-08F029E31994}"/>
              </a:ext>
            </a:extLst>
          </p:cNvPr>
          <p:cNvSpPr txBox="1"/>
          <p:nvPr/>
        </p:nvSpPr>
        <p:spPr>
          <a:xfrm>
            <a:off x="711200" y="6502400"/>
            <a:ext cx="9017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900">
                <a:solidFill>
                  <a:srgbClr val="687880"/>
                </a:solidFill>
                <a:latin typeface="Aptos" panose="020B0004020202020204" pitchFamily="34" charset="0"/>
              </a:rPr>
              <a:t>INTELLIGENT DIET MONITORING  |  PROJECT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F0E3FB-8F9D-B832-409C-1BBB43F68A44}"/>
              </a:ext>
            </a:extLst>
          </p:cNvPr>
          <p:cNvSpPr txBox="1"/>
          <p:nvPr/>
        </p:nvSpPr>
        <p:spPr>
          <a:xfrm>
            <a:off x="10985500" y="6477000"/>
            <a:ext cx="4826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000" b="1">
                <a:solidFill>
                  <a:srgbClr val="43BE8B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DE10E6-7913-6BE4-E5B5-221D8E5F067F}"/>
              </a:ext>
            </a:extLst>
          </p:cNvPr>
          <p:cNvSpPr/>
          <p:nvPr/>
        </p:nvSpPr>
        <p:spPr>
          <a:xfrm>
            <a:off x="736600" y="2286000"/>
            <a:ext cx="5143500" cy="3352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AC7615-8CF7-CF2D-B822-70529E8804B7}"/>
              </a:ext>
            </a:extLst>
          </p:cNvPr>
          <p:cNvSpPr/>
          <p:nvPr/>
        </p:nvSpPr>
        <p:spPr>
          <a:xfrm>
            <a:off x="736600" y="2286000"/>
            <a:ext cx="76200" cy="3352800"/>
          </a:xfrm>
          <a:prstGeom prst="rect">
            <a:avLst/>
          </a:prstGeom>
          <a:solidFill>
            <a:srgbClr val="43BE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FA30E-78B4-01E5-1664-992814C045D3}"/>
              </a:ext>
            </a:extLst>
          </p:cNvPr>
          <p:cNvSpPr txBox="1"/>
          <p:nvPr/>
        </p:nvSpPr>
        <p:spPr>
          <a:xfrm>
            <a:off x="990600" y="2501900"/>
            <a:ext cx="46736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Aim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CC324B-815F-E297-6E2B-4BB63239E28F}"/>
              </a:ext>
            </a:extLst>
          </p:cNvPr>
          <p:cNvSpPr txBox="1"/>
          <p:nvPr/>
        </p:nvSpPr>
        <p:spPr>
          <a:xfrm>
            <a:off x="990600" y="2959100"/>
            <a:ext cx="4648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Develop a web-based system that can help users monitor diet and make more informed food choices.</a:t>
            </a:r>
            <a:endParaRPr lang="en-ZW" sz="13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3230040-42DA-4A38-A7AC-C5943AC0CA37}"/>
              </a:ext>
            </a:extLst>
          </p:cNvPr>
          <p:cNvSpPr/>
          <p:nvPr/>
        </p:nvSpPr>
        <p:spPr>
          <a:xfrm>
            <a:off x="6286500" y="2286000"/>
            <a:ext cx="5143500" cy="3352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840D69-5C3F-BC1A-EA06-A018F4C35C47}"/>
              </a:ext>
            </a:extLst>
          </p:cNvPr>
          <p:cNvSpPr/>
          <p:nvPr/>
        </p:nvSpPr>
        <p:spPr>
          <a:xfrm>
            <a:off x="6286500" y="2286000"/>
            <a:ext cx="76200" cy="3352800"/>
          </a:xfrm>
          <a:prstGeom prst="rect">
            <a:avLst/>
          </a:prstGeom>
          <a:solidFill>
            <a:srgbClr val="F6AB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7CFD12-A960-027F-C147-A26FD8A5392E}"/>
              </a:ext>
            </a:extLst>
          </p:cNvPr>
          <p:cNvSpPr txBox="1"/>
          <p:nvPr/>
        </p:nvSpPr>
        <p:spPr>
          <a:xfrm>
            <a:off x="6540500" y="2501900"/>
            <a:ext cx="46736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Objectives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307A4D-F561-1DA9-7938-53A42C3C8A17}"/>
              </a:ext>
            </a:extLst>
          </p:cNvPr>
          <p:cNvSpPr txBox="1"/>
          <p:nvPr/>
        </p:nvSpPr>
        <p:spPr>
          <a:xfrm>
            <a:off x="6540500" y="2959100"/>
            <a:ext cx="4648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Build a usable web application</a:t>
            </a:r>
          </a:p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Store and retrieve food-related records</a:t>
            </a:r>
          </a:p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Develop a diet-monitoring workflow</a:t>
            </a:r>
          </a:p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Train and evaluate an AI model (in progress)</a:t>
            </a:r>
            <a:endParaRPr lang="en-ZW" sz="13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073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7DFB66-C81A-E22F-22FB-348559C812FC}"/>
              </a:ext>
            </a:extLst>
          </p:cNvPr>
          <p:cNvSpPr txBox="1"/>
          <p:nvPr/>
        </p:nvSpPr>
        <p:spPr>
          <a:xfrm>
            <a:off x="711200" y="406400"/>
            <a:ext cx="10414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100" b="1">
                <a:solidFill>
                  <a:srgbClr val="43BE8B"/>
                </a:solidFill>
                <a:latin typeface="Aptos" panose="020B0004020202020204" pitchFamily="34" charset="0"/>
              </a:rPr>
              <a:t>03 | WORK COMPLETED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2FD1EE-02CE-F498-92E3-9C70E8589E11}"/>
              </a:ext>
            </a:extLst>
          </p:cNvPr>
          <p:cNvSpPr txBox="1"/>
          <p:nvPr/>
        </p:nvSpPr>
        <p:spPr>
          <a:xfrm>
            <a:off x="711200" y="787400"/>
            <a:ext cx="10795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2900" b="1">
                <a:solidFill>
                  <a:srgbClr val="111F30"/>
                </a:solidFill>
                <a:latin typeface="Aptos" panose="020B0004020202020204" pitchFamily="34" charset="0"/>
              </a:rPr>
              <a:t>What I have built so far</a:t>
            </a:r>
            <a:endParaRPr lang="en-ZW" sz="2900" b="1">
              <a:solidFill>
                <a:srgbClr val="111F3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F41D1F-99C5-1EA1-B129-52F5F886FBFC}"/>
              </a:ext>
            </a:extLst>
          </p:cNvPr>
          <p:cNvSpPr txBox="1"/>
          <p:nvPr/>
        </p:nvSpPr>
        <p:spPr>
          <a:xfrm>
            <a:off x="723900" y="1498600"/>
            <a:ext cx="10604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400">
                <a:solidFill>
                  <a:srgbClr val="687880"/>
                </a:solidFill>
                <a:latin typeface="Aptos" panose="020B0004020202020204" pitchFamily="34" charset="0"/>
              </a:rPr>
              <a:t>A working food-ordering prototype provides a foundation for the next diet-monitoring features.</a:t>
            </a:r>
            <a:endParaRPr lang="en-ZW" sz="14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225667-F641-9503-BC48-6C455FF97700}"/>
              </a:ext>
            </a:extLst>
          </p:cNvPr>
          <p:cNvSpPr/>
          <p:nvPr/>
        </p:nvSpPr>
        <p:spPr>
          <a:xfrm>
            <a:off x="711200" y="6413500"/>
            <a:ext cx="10769600" cy="12700"/>
          </a:xfrm>
          <a:prstGeom prst="rect">
            <a:avLst/>
          </a:prstGeom>
          <a:solidFill>
            <a:srgbClr val="EDF3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381584-6138-BBE8-A04A-F4F101595E62}"/>
              </a:ext>
            </a:extLst>
          </p:cNvPr>
          <p:cNvSpPr txBox="1"/>
          <p:nvPr/>
        </p:nvSpPr>
        <p:spPr>
          <a:xfrm>
            <a:off x="711200" y="6502400"/>
            <a:ext cx="9017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900">
                <a:solidFill>
                  <a:srgbClr val="687880"/>
                </a:solidFill>
                <a:latin typeface="Aptos" panose="020B0004020202020204" pitchFamily="34" charset="0"/>
              </a:rPr>
              <a:t>INTELLIGENT DIET MONITORING  |  PROJECT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209137-2ADE-7C4E-634B-B42ABF76302C}"/>
              </a:ext>
            </a:extLst>
          </p:cNvPr>
          <p:cNvSpPr txBox="1"/>
          <p:nvPr/>
        </p:nvSpPr>
        <p:spPr>
          <a:xfrm>
            <a:off x="10985500" y="6477000"/>
            <a:ext cx="4826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000" b="1">
                <a:solidFill>
                  <a:srgbClr val="43BE8B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DE135F-47E6-1A67-5470-059AB191C0EF}"/>
              </a:ext>
            </a:extLst>
          </p:cNvPr>
          <p:cNvSpPr/>
          <p:nvPr/>
        </p:nvSpPr>
        <p:spPr>
          <a:xfrm>
            <a:off x="723900" y="2222500"/>
            <a:ext cx="3352800" cy="16383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21F325-2C52-6F32-814E-3728856FE962}"/>
              </a:ext>
            </a:extLst>
          </p:cNvPr>
          <p:cNvSpPr/>
          <p:nvPr/>
        </p:nvSpPr>
        <p:spPr>
          <a:xfrm>
            <a:off x="723900" y="2222500"/>
            <a:ext cx="76200" cy="1638300"/>
          </a:xfrm>
          <a:prstGeom prst="rect">
            <a:avLst/>
          </a:prstGeom>
          <a:solidFill>
            <a:srgbClr val="43BE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962FE9-1D9E-9FC2-D690-F250A1ECBBDF}"/>
              </a:ext>
            </a:extLst>
          </p:cNvPr>
          <p:cNvSpPr txBox="1"/>
          <p:nvPr/>
        </p:nvSpPr>
        <p:spPr>
          <a:xfrm>
            <a:off x="977900" y="2438400"/>
            <a:ext cx="28829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Customer 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D6C4C4-717D-D2D3-93E0-41A935F20C26}"/>
              </a:ext>
            </a:extLst>
          </p:cNvPr>
          <p:cNvSpPr txBox="1"/>
          <p:nvPr/>
        </p:nvSpPr>
        <p:spPr>
          <a:xfrm>
            <a:off x="977900" y="2895600"/>
            <a:ext cx="2857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300" dirty="0">
                <a:solidFill>
                  <a:srgbClr val="687880"/>
                </a:solidFill>
                <a:latin typeface="Aptos" panose="020B0004020202020204" pitchFamily="34" charset="0"/>
              </a:rPr>
              <a:t>Browse menu items, add to cart and submit an order.</a:t>
            </a:r>
            <a:endParaRPr lang="en-ZW" sz="1300" dirty="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181A51-B739-E9A8-E157-7CF6D241B2EF}"/>
              </a:ext>
            </a:extLst>
          </p:cNvPr>
          <p:cNvSpPr/>
          <p:nvPr/>
        </p:nvSpPr>
        <p:spPr>
          <a:xfrm>
            <a:off x="4419600" y="2222500"/>
            <a:ext cx="3352800" cy="16383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3B01C3-43D9-5629-E0BE-3A8241F48C17}"/>
              </a:ext>
            </a:extLst>
          </p:cNvPr>
          <p:cNvSpPr/>
          <p:nvPr/>
        </p:nvSpPr>
        <p:spPr>
          <a:xfrm>
            <a:off x="4419600" y="2222500"/>
            <a:ext cx="76200" cy="1638300"/>
          </a:xfrm>
          <a:prstGeom prst="rect">
            <a:avLst/>
          </a:prstGeom>
          <a:solidFill>
            <a:srgbClr val="F6AB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E86891-E16D-6702-8B77-DFE4AD335DE3}"/>
              </a:ext>
            </a:extLst>
          </p:cNvPr>
          <p:cNvSpPr txBox="1"/>
          <p:nvPr/>
        </p:nvSpPr>
        <p:spPr>
          <a:xfrm>
            <a:off x="4673600" y="2438400"/>
            <a:ext cx="28829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Restaurant tools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17AC5F-FC28-B0B8-0478-B85AB3528498}"/>
              </a:ext>
            </a:extLst>
          </p:cNvPr>
          <p:cNvSpPr txBox="1"/>
          <p:nvPr/>
        </p:nvSpPr>
        <p:spPr>
          <a:xfrm>
            <a:off x="4673600" y="2895600"/>
            <a:ext cx="2857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View incoming orders and update preparation or pickup status.</a:t>
            </a:r>
            <a:endParaRPr lang="en-ZW" sz="13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32BC558-9D59-DAC4-BA1C-3D7C564EBAAA}"/>
              </a:ext>
            </a:extLst>
          </p:cNvPr>
          <p:cNvSpPr/>
          <p:nvPr/>
        </p:nvSpPr>
        <p:spPr>
          <a:xfrm>
            <a:off x="8115300" y="2222500"/>
            <a:ext cx="3352800" cy="16383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93BD84-0E0F-5728-8C25-29EE2B2346CB}"/>
              </a:ext>
            </a:extLst>
          </p:cNvPr>
          <p:cNvSpPr/>
          <p:nvPr/>
        </p:nvSpPr>
        <p:spPr>
          <a:xfrm>
            <a:off x="8115300" y="2222500"/>
            <a:ext cx="76200" cy="1638300"/>
          </a:xfrm>
          <a:prstGeom prst="rect">
            <a:avLst/>
          </a:prstGeom>
          <a:solidFill>
            <a:srgbClr val="43BE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A86198-C52E-D237-8C3A-CDE0065F354C}"/>
              </a:ext>
            </a:extLst>
          </p:cNvPr>
          <p:cNvSpPr txBox="1"/>
          <p:nvPr/>
        </p:nvSpPr>
        <p:spPr>
          <a:xfrm>
            <a:off x="8369300" y="2438400"/>
            <a:ext cx="28829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Delivery flow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5FD9A6-7197-1789-9F7D-5E73799F6BD4}"/>
              </a:ext>
            </a:extLst>
          </p:cNvPr>
          <p:cNvSpPr txBox="1"/>
          <p:nvPr/>
        </p:nvSpPr>
        <p:spPr>
          <a:xfrm>
            <a:off x="8369300" y="2895600"/>
            <a:ext cx="2857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Track active orders and update delivery progress.</a:t>
            </a:r>
            <a:endParaRPr lang="en-ZW" sz="13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1A10616-3C9C-70F6-1711-1DA808594786}"/>
              </a:ext>
            </a:extLst>
          </p:cNvPr>
          <p:cNvSpPr/>
          <p:nvPr/>
        </p:nvSpPr>
        <p:spPr>
          <a:xfrm>
            <a:off x="723900" y="4140200"/>
            <a:ext cx="3352800" cy="16383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BD5350-20D5-B583-E36F-EC6B3856873A}"/>
              </a:ext>
            </a:extLst>
          </p:cNvPr>
          <p:cNvSpPr/>
          <p:nvPr/>
        </p:nvSpPr>
        <p:spPr>
          <a:xfrm>
            <a:off x="723900" y="4140200"/>
            <a:ext cx="76200" cy="1638300"/>
          </a:xfrm>
          <a:prstGeom prst="rect">
            <a:avLst/>
          </a:prstGeom>
          <a:solidFill>
            <a:srgbClr val="F6AB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ED9DFC-175B-858C-8B7C-E8F87DF69095}"/>
              </a:ext>
            </a:extLst>
          </p:cNvPr>
          <p:cNvSpPr txBox="1"/>
          <p:nvPr/>
        </p:nvSpPr>
        <p:spPr>
          <a:xfrm>
            <a:off x="977900" y="4356100"/>
            <a:ext cx="28829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Admin dashboard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247534-90BD-071A-24D4-B90E3B15106D}"/>
              </a:ext>
            </a:extLst>
          </p:cNvPr>
          <p:cNvSpPr txBox="1"/>
          <p:nvPr/>
        </p:nvSpPr>
        <p:spPr>
          <a:xfrm>
            <a:off x="977900" y="4813300"/>
            <a:ext cx="2857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View platform summaries and manage protected administrator access.</a:t>
            </a:r>
            <a:endParaRPr lang="en-ZW" sz="13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B4AEE97-0394-F3F2-FB97-F89D59667B59}"/>
              </a:ext>
            </a:extLst>
          </p:cNvPr>
          <p:cNvSpPr/>
          <p:nvPr/>
        </p:nvSpPr>
        <p:spPr>
          <a:xfrm>
            <a:off x="4419600" y="4140200"/>
            <a:ext cx="3352800" cy="16383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C18764-0C06-E37D-28E8-42A83F6ED079}"/>
              </a:ext>
            </a:extLst>
          </p:cNvPr>
          <p:cNvSpPr/>
          <p:nvPr/>
        </p:nvSpPr>
        <p:spPr>
          <a:xfrm>
            <a:off x="4419600" y="4140200"/>
            <a:ext cx="76200" cy="1638300"/>
          </a:xfrm>
          <a:prstGeom prst="rect">
            <a:avLst/>
          </a:prstGeom>
          <a:solidFill>
            <a:srgbClr val="43BE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9AA61B-6933-2551-D718-590171246372}"/>
              </a:ext>
            </a:extLst>
          </p:cNvPr>
          <p:cNvSpPr txBox="1"/>
          <p:nvPr/>
        </p:nvSpPr>
        <p:spPr>
          <a:xfrm>
            <a:off x="4673600" y="4356100"/>
            <a:ext cx="28829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Backend APIs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F5D5B8-CE63-2D1C-02E8-B82EA463029E}"/>
              </a:ext>
            </a:extLst>
          </p:cNvPr>
          <p:cNvSpPr txBox="1"/>
          <p:nvPr/>
        </p:nvSpPr>
        <p:spPr>
          <a:xfrm>
            <a:off x="4673600" y="4813300"/>
            <a:ext cx="2857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Node.js and Express routes validate requests and connect screens to stored data.</a:t>
            </a:r>
            <a:endParaRPr lang="en-ZW" sz="13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DF2324D-04B4-63D4-3F7D-44ED6C72CA60}"/>
              </a:ext>
            </a:extLst>
          </p:cNvPr>
          <p:cNvSpPr/>
          <p:nvPr/>
        </p:nvSpPr>
        <p:spPr>
          <a:xfrm>
            <a:off x="8115300" y="4140200"/>
            <a:ext cx="3352800" cy="16383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D0D646-49D2-DB29-EC99-21D619423AE6}"/>
              </a:ext>
            </a:extLst>
          </p:cNvPr>
          <p:cNvSpPr/>
          <p:nvPr/>
        </p:nvSpPr>
        <p:spPr>
          <a:xfrm>
            <a:off x="8115300" y="4140200"/>
            <a:ext cx="76200" cy="1638300"/>
          </a:xfrm>
          <a:prstGeom prst="rect">
            <a:avLst/>
          </a:prstGeom>
          <a:solidFill>
            <a:srgbClr val="F6AB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E2263E-8B14-B023-C437-95632DF54B40}"/>
              </a:ext>
            </a:extLst>
          </p:cNvPr>
          <p:cNvSpPr txBox="1"/>
          <p:nvPr/>
        </p:nvSpPr>
        <p:spPr>
          <a:xfrm>
            <a:off x="8369300" y="4356100"/>
            <a:ext cx="28829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Persistent data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8E9C5F-880A-9DDB-B8C0-8612B28996C5}"/>
              </a:ext>
            </a:extLst>
          </p:cNvPr>
          <p:cNvSpPr txBox="1"/>
          <p:nvPr/>
        </p:nvSpPr>
        <p:spPr>
          <a:xfrm>
            <a:off x="8369300" y="4813300"/>
            <a:ext cx="2857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SQLite stores menu, order, order-item and user records for the prototype.</a:t>
            </a:r>
            <a:endParaRPr lang="en-ZW" sz="13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340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D6EF90-E080-2B63-EF5B-4C2456A21E6A}"/>
              </a:ext>
            </a:extLst>
          </p:cNvPr>
          <p:cNvSpPr txBox="1"/>
          <p:nvPr/>
        </p:nvSpPr>
        <p:spPr>
          <a:xfrm>
            <a:off x="711200" y="406400"/>
            <a:ext cx="10414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100" b="1">
                <a:solidFill>
                  <a:srgbClr val="43BE8B"/>
                </a:solidFill>
                <a:latin typeface="Aptos" panose="020B0004020202020204" pitchFamily="34" charset="0"/>
              </a:rPr>
              <a:t>04 | MODEL STATUS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16CF3-B81B-E35A-9D75-4165BE9E5C90}"/>
              </a:ext>
            </a:extLst>
          </p:cNvPr>
          <p:cNvSpPr txBox="1"/>
          <p:nvPr/>
        </p:nvSpPr>
        <p:spPr>
          <a:xfrm>
            <a:off x="711200" y="787400"/>
            <a:ext cx="10795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2900" b="1">
                <a:solidFill>
                  <a:srgbClr val="111F30"/>
                </a:solidFill>
                <a:latin typeface="Aptos" panose="020B0004020202020204" pitchFamily="34" charset="0"/>
              </a:rPr>
              <a:t>Diet intelligence: the next development stage</a:t>
            </a:r>
            <a:endParaRPr lang="en-ZW" sz="2900" b="1">
              <a:solidFill>
                <a:srgbClr val="111F3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58D995-8405-0B49-798C-3DDC39E03482}"/>
              </a:ext>
            </a:extLst>
          </p:cNvPr>
          <p:cNvSpPr txBox="1"/>
          <p:nvPr/>
        </p:nvSpPr>
        <p:spPr>
          <a:xfrm>
            <a:off x="723900" y="1498600"/>
            <a:ext cx="10604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400">
                <a:solidFill>
                  <a:srgbClr val="687880"/>
                </a:solidFill>
                <a:latin typeface="Aptos" panose="020B0004020202020204" pitchFamily="34" charset="0"/>
              </a:rPr>
              <a:t>The AI model is still in progress; this is a proposed workflow, not a completed feature.</a:t>
            </a:r>
            <a:endParaRPr lang="en-ZW" sz="14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1CB556-0C6D-1E5A-A7C4-97A4D89EF591}"/>
              </a:ext>
            </a:extLst>
          </p:cNvPr>
          <p:cNvSpPr/>
          <p:nvPr/>
        </p:nvSpPr>
        <p:spPr>
          <a:xfrm>
            <a:off x="711200" y="6413500"/>
            <a:ext cx="10769600" cy="12700"/>
          </a:xfrm>
          <a:prstGeom prst="rect">
            <a:avLst/>
          </a:prstGeom>
          <a:solidFill>
            <a:srgbClr val="EDF3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94D5DA-88E2-40B7-5A7D-5BDF27F6618A}"/>
              </a:ext>
            </a:extLst>
          </p:cNvPr>
          <p:cNvSpPr txBox="1"/>
          <p:nvPr/>
        </p:nvSpPr>
        <p:spPr>
          <a:xfrm>
            <a:off x="711200" y="6502400"/>
            <a:ext cx="9017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900">
                <a:solidFill>
                  <a:srgbClr val="687880"/>
                </a:solidFill>
                <a:latin typeface="Aptos" panose="020B0004020202020204" pitchFamily="34" charset="0"/>
              </a:rPr>
              <a:t>INTELLIGENT DIET MONITORING  |  PROJECT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F8A5F8-1E8E-0CFE-5B58-4C47FD49CCC0}"/>
              </a:ext>
            </a:extLst>
          </p:cNvPr>
          <p:cNvSpPr txBox="1"/>
          <p:nvPr/>
        </p:nvSpPr>
        <p:spPr>
          <a:xfrm>
            <a:off x="10985500" y="6477000"/>
            <a:ext cx="4826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000" b="1">
                <a:solidFill>
                  <a:srgbClr val="43BE8B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4C1942-3A08-6283-83AE-320C5F2103EA}"/>
              </a:ext>
            </a:extLst>
          </p:cNvPr>
          <p:cNvSpPr/>
          <p:nvPr/>
        </p:nvSpPr>
        <p:spPr>
          <a:xfrm>
            <a:off x="723900" y="2565400"/>
            <a:ext cx="2413000" cy="24257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F801FD-6BF3-7EE7-A393-6471F84133B2}"/>
              </a:ext>
            </a:extLst>
          </p:cNvPr>
          <p:cNvSpPr txBox="1"/>
          <p:nvPr/>
        </p:nvSpPr>
        <p:spPr>
          <a:xfrm>
            <a:off x="952500" y="2768600"/>
            <a:ext cx="635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500" b="1">
                <a:solidFill>
                  <a:srgbClr val="43BE8B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28D01F-132C-5EFA-ADDC-6D7727E9F61E}"/>
              </a:ext>
            </a:extLst>
          </p:cNvPr>
          <p:cNvSpPr txBox="1"/>
          <p:nvPr/>
        </p:nvSpPr>
        <p:spPr>
          <a:xfrm>
            <a:off x="952500" y="3238500"/>
            <a:ext cx="1981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2000" b="1">
                <a:solidFill>
                  <a:srgbClr val="111F30"/>
                </a:solidFill>
                <a:latin typeface="Aptos" panose="020B0004020202020204" pitchFamily="34" charset="0"/>
              </a:rPr>
              <a:t>Capture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D75D54-7F79-7C03-3681-E2D3DAA7B87B}"/>
              </a:ext>
            </a:extLst>
          </p:cNvPr>
          <p:cNvSpPr txBox="1"/>
          <p:nvPr/>
        </p:nvSpPr>
        <p:spPr>
          <a:xfrm>
            <a:off x="952500" y="3810000"/>
            <a:ext cx="19558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Record meals and user goals</a:t>
            </a:r>
            <a:endParaRPr lang="en-ZW" sz="13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213A882-85D3-D2B7-14A3-EA8970C7B53F}"/>
              </a:ext>
            </a:extLst>
          </p:cNvPr>
          <p:cNvSpPr/>
          <p:nvPr/>
        </p:nvSpPr>
        <p:spPr>
          <a:xfrm>
            <a:off x="3492500" y="2565400"/>
            <a:ext cx="2413000" cy="24257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518955-96AC-DB62-0240-23CD965899A7}"/>
              </a:ext>
            </a:extLst>
          </p:cNvPr>
          <p:cNvSpPr txBox="1"/>
          <p:nvPr/>
        </p:nvSpPr>
        <p:spPr>
          <a:xfrm>
            <a:off x="3721100" y="2768600"/>
            <a:ext cx="635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500" b="1">
                <a:solidFill>
                  <a:srgbClr val="43BE8B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F6B457-FBCE-92EF-566F-5831B313F60F}"/>
              </a:ext>
            </a:extLst>
          </p:cNvPr>
          <p:cNvSpPr txBox="1"/>
          <p:nvPr/>
        </p:nvSpPr>
        <p:spPr>
          <a:xfrm>
            <a:off x="3721100" y="3238500"/>
            <a:ext cx="1981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2000" b="1">
                <a:solidFill>
                  <a:srgbClr val="111F30"/>
                </a:solidFill>
                <a:latin typeface="Aptos" panose="020B0004020202020204" pitchFamily="34" charset="0"/>
              </a:rPr>
              <a:t>Structure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3093F9-4583-5E8C-0200-F0D0A39D6316}"/>
              </a:ext>
            </a:extLst>
          </p:cNvPr>
          <p:cNvSpPr txBox="1"/>
          <p:nvPr/>
        </p:nvSpPr>
        <p:spPr>
          <a:xfrm>
            <a:off x="3721100" y="3810000"/>
            <a:ext cx="19558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Organize food and nutrition data</a:t>
            </a:r>
            <a:endParaRPr lang="en-ZW" sz="13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35BD4C-6E65-0331-35CE-4CA822F0ADF4}"/>
              </a:ext>
            </a:extLst>
          </p:cNvPr>
          <p:cNvSpPr/>
          <p:nvPr/>
        </p:nvSpPr>
        <p:spPr>
          <a:xfrm>
            <a:off x="6261100" y="2565400"/>
            <a:ext cx="2413000" cy="24257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789BF3-9C4A-DEB8-37CA-3237E2547F68}"/>
              </a:ext>
            </a:extLst>
          </p:cNvPr>
          <p:cNvSpPr txBox="1"/>
          <p:nvPr/>
        </p:nvSpPr>
        <p:spPr>
          <a:xfrm>
            <a:off x="6489700" y="2768600"/>
            <a:ext cx="635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500" b="1">
                <a:solidFill>
                  <a:srgbClr val="43BE8B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FAF8E7-7985-49F2-06B2-AF3B290D124A}"/>
              </a:ext>
            </a:extLst>
          </p:cNvPr>
          <p:cNvSpPr txBox="1"/>
          <p:nvPr/>
        </p:nvSpPr>
        <p:spPr>
          <a:xfrm>
            <a:off x="6489700" y="3238500"/>
            <a:ext cx="1981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2000" b="1">
                <a:solidFill>
                  <a:srgbClr val="111F30"/>
                </a:solidFill>
                <a:latin typeface="Aptos" panose="020B0004020202020204" pitchFamily="34" charset="0"/>
              </a:rPr>
              <a:t>Analyze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A271AA-D28A-64AC-E49F-4BF6BA0B5145}"/>
              </a:ext>
            </a:extLst>
          </p:cNvPr>
          <p:cNvSpPr txBox="1"/>
          <p:nvPr/>
        </p:nvSpPr>
        <p:spPr>
          <a:xfrm>
            <a:off x="6489700" y="3810000"/>
            <a:ext cx="19558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Develop and test a suitable model</a:t>
            </a:r>
            <a:endParaRPr lang="en-ZW" sz="13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85682DE-D0F8-E5D5-E01A-9EB614EAD874}"/>
              </a:ext>
            </a:extLst>
          </p:cNvPr>
          <p:cNvSpPr/>
          <p:nvPr/>
        </p:nvSpPr>
        <p:spPr>
          <a:xfrm>
            <a:off x="9029700" y="2565400"/>
            <a:ext cx="2413000" cy="24257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1B2BBB-48E5-9FEC-503C-728CADBE9763}"/>
              </a:ext>
            </a:extLst>
          </p:cNvPr>
          <p:cNvSpPr txBox="1"/>
          <p:nvPr/>
        </p:nvSpPr>
        <p:spPr>
          <a:xfrm>
            <a:off x="9258300" y="2768600"/>
            <a:ext cx="635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500" b="1">
                <a:solidFill>
                  <a:srgbClr val="43BE8B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043F6F-3BF9-3976-1648-4C1757259012}"/>
              </a:ext>
            </a:extLst>
          </p:cNvPr>
          <p:cNvSpPr txBox="1"/>
          <p:nvPr/>
        </p:nvSpPr>
        <p:spPr>
          <a:xfrm>
            <a:off x="9258300" y="3238500"/>
            <a:ext cx="1981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2000" b="1">
                <a:solidFill>
                  <a:srgbClr val="111F30"/>
                </a:solidFill>
                <a:latin typeface="Aptos" panose="020B0004020202020204" pitchFamily="34" charset="0"/>
              </a:rPr>
              <a:t>Guide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8C5C35-E00E-2AA1-7B98-BB13D275881E}"/>
              </a:ext>
            </a:extLst>
          </p:cNvPr>
          <p:cNvSpPr txBox="1"/>
          <p:nvPr/>
        </p:nvSpPr>
        <p:spPr>
          <a:xfrm>
            <a:off x="9258300" y="3810000"/>
            <a:ext cx="19558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300">
                <a:solidFill>
                  <a:srgbClr val="687880"/>
                </a:solidFill>
                <a:latin typeface="Aptos" panose="020B0004020202020204" pitchFamily="34" charset="0"/>
              </a:rPr>
              <a:t>Present understandable suggestions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E70440-9210-55C3-5901-88E0311A558D}"/>
              </a:ext>
            </a:extLst>
          </p:cNvPr>
          <p:cNvSpPr txBox="1"/>
          <p:nvPr/>
        </p:nvSpPr>
        <p:spPr>
          <a:xfrm>
            <a:off x="876300" y="5384800"/>
            <a:ext cx="104648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500" b="1">
                <a:solidFill>
                  <a:srgbClr val="111F30"/>
                </a:solidFill>
                <a:latin typeface="Aptos" panose="020B0004020202020204" pitchFamily="34" charset="0"/>
              </a:rPr>
              <a:t>Next: define the nutrition dataset, select a model approach, then validate recommendations before demoing them.</a:t>
            </a:r>
            <a:endParaRPr lang="en-ZW" sz="1500" b="1">
              <a:solidFill>
                <a:srgbClr val="111F3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520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A935A4-5752-71EA-21B9-E19E498E69BB}"/>
              </a:ext>
            </a:extLst>
          </p:cNvPr>
          <p:cNvSpPr txBox="1"/>
          <p:nvPr/>
        </p:nvSpPr>
        <p:spPr>
          <a:xfrm>
            <a:off x="711200" y="406400"/>
            <a:ext cx="10414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100" b="1">
                <a:solidFill>
                  <a:srgbClr val="43BE8B"/>
                </a:solidFill>
                <a:latin typeface="Aptos" panose="020B0004020202020204" pitchFamily="34" charset="0"/>
              </a:rPr>
              <a:t>05 | SYSTEM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999A05-AEE9-02C3-1960-62A25F6364C4}"/>
              </a:ext>
            </a:extLst>
          </p:cNvPr>
          <p:cNvSpPr txBox="1"/>
          <p:nvPr/>
        </p:nvSpPr>
        <p:spPr>
          <a:xfrm>
            <a:off x="711200" y="787400"/>
            <a:ext cx="10795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2900" b="1">
                <a:solidFill>
                  <a:srgbClr val="111F30"/>
                </a:solidFill>
                <a:latin typeface="Aptos" panose="020B0004020202020204" pitchFamily="34" charset="0"/>
              </a:rPr>
              <a:t>How the current prototype is structured</a:t>
            </a:r>
            <a:endParaRPr lang="en-ZW" sz="2900" b="1">
              <a:solidFill>
                <a:srgbClr val="111F3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3FBC64-5802-10A6-B621-52ED56BC5949}"/>
              </a:ext>
            </a:extLst>
          </p:cNvPr>
          <p:cNvSpPr txBox="1"/>
          <p:nvPr/>
        </p:nvSpPr>
        <p:spPr>
          <a:xfrm>
            <a:off x="723900" y="1498600"/>
            <a:ext cx="10604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400">
                <a:solidFill>
                  <a:srgbClr val="687880"/>
                </a:solidFill>
                <a:latin typeface="Aptos" panose="020B0004020202020204" pitchFamily="34" charset="0"/>
              </a:rPr>
              <a:t>Three layers keep the user interface, server-side logic and stored records separate.</a:t>
            </a:r>
            <a:endParaRPr lang="en-ZW" sz="14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9C150B-1B53-33B0-4390-D2364C3193D4}"/>
              </a:ext>
            </a:extLst>
          </p:cNvPr>
          <p:cNvSpPr/>
          <p:nvPr/>
        </p:nvSpPr>
        <p:spPr>
          <a:xfrm>
            <a:off x="711200" y="6413500"/>
            <a:ext cx="10769600" cy="12700"/>
          </a:xfrm>
          <a:prstGeom prst="rect">
            <a:avLst/>
          </a:prstGeom>
          <a:solidFill>
            <a:srgbClr val="EDF3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5EE811-E76F-18E0-5FC8-B2C96BC2DFCD}"/>
              </a:ext>
            </a:extLst>
          </p:cNvPr>
          <p:cNvSpPr txBox="1"/>
          <p:nvPr/>
        </p:nvSpPr>
        <p:spPr>
          <a:xfrm>
            <a:off x="711200" y="6502400"/>
            <a:ext cx="9017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900">
                <a:solidFill>
                  <a:srgbClr val="687880"/>
                </a:solidFill>
                <a:latin typeface="Aptos" panose="020B0004020202020204" pitchFamily="34" charset="0"/>
              </a:rPr>
              <a:t>INTELLIGENT DIET MONITORING  |  PROJECT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E37751-121F-FF1A-ACB7-4F02DE9807B1}"/>
              </a:ext>
            </a:extLst>
          </p:cNvPr>
          <p:cNvSpPr txBox="1"/>
          <p:nvPr/>
        </p:nvSpPr>
        <p:spPr>
          <a:xfrm>
            <a:off x="10985500" y="6477000"/>
            <a:ext cx="4826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000" b="1">
                <a:solidFill>
                  <a:srgbClr val="43BE8B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DEB581-9348-DBE2-3785-7D0CBBA19748}"/>
              </a:ext>
            </a:extLst>
          </p:cNvPr>
          <p:cNvSpPr/>
          <p:nvPr/>
        </p:nvSpPr>
        <p:spPr>
          <a:xfrm>
            <a:off x="800100" y="2705100"/>
            <a:ext cx="3175000" cy="19685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19B404-D3EA-C28E-D84F-A86AE8A5CCEF}"/>
              </a:ext>
            </a:extLst>
          </p:cNvPr>
          <p:cNvSpPr txBox="1"/>
          <p:nvPr/>
        </p:nvSpPr>
        <p:spPr>
          <a:xfrm>
            <a:off x="1028700" y="2933700"/>
            <a:ext cx="2667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100" b="1">
                <a:solidFill>
                  <a:srgbClr val="43BE8B"/>
                </a:solidFill>
                <a:latin typeface="Aptos" panose="020B0004020202020204" pitchFamily="34" charset="0"/>
              </a:rPr>
              <a:t>PRESENTATION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A7F73B-B033-C558-B2E0-D58186C62A58}"/>
              </a:ext>
            </a:extLst>
          </p:cNvPr>
          <p:cNvSpPr txBox="1"/>
          <p:nvPr/>
        </p:nvSpPr>
        <p:spPr>
          <a:xfrm>
            <a:off x="1028700" y="3378200"/>
            <a:ext cx="2730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HTML | CSS | JavaScript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D16818-CCD8-9E9C-2001-22E03A9D519A}"/>
              </a:ext>
            </a:extLst>
          </p:cNvPr>
          <p:cNvSpPr txBox="1"/>
          <p:nvPr/>
        </p:nvSpPr>
        <p:spPr>
          <a:xfrm>
            <a:off x="1028700" y="3962400"/>
            <a:ext cx="2730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200">
                <a:solidFill>
                  <a:srgbClr val="687880"/>
                </a:solidFill>
                <a:latin typeface="Aptos" panose="020B0004020202020204" pitchFamily="34" charset="0"/>
              </a:rPr>
              <a:t>Customer, restaurant, delivery and admin screens</a:t>
            </a:r>
            <a:endParaRPr lang="en-ZW" sz="12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DD6E79C-766C-6F66-7257-DF77C21A670C}"/>
              </a:ext>
            </a:extLst>
          </p:cNvPr>
          <p:cNvSpPr/>
          <p:nvPr/>
        </p:nvSpPr>
        <p:spPr>
          <a:xfrm>
            <a:off x="4445000" y="2705100"/>
            <a:ext cx="3175000" cy="19685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49FC91-6FDB-EBA6-2EB2-E30929C354B9}"/>
              </a:ext>
            </a:extLst>
          </p:cNvPr>
          <p:cNvSpPr txBox="1"/>
          <p:nvPr/>
        </p:nvSpPr>
        <p:spPr>
          <a:xfrm>
            <a:off x="4673600" y="2933700"/>
            <a:ext cx="2667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100" b="1">
                <a:solidFill>
                  <a:srgbClr val="43BE8B"/>
                </a:solidFill>
                <a:latin typeface="Aptos" panose="020B0004020202020204" pitchFamily="34" charset="0"/>
              </a:rPr>
              <a:t>APPLICATION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1748E5-CEEF-0F8B-A54F-1DF5884EDA74}"/>
              </a:ext>
            </a:extLst>
          </p:cNvPr>
          <p:cNvSpPr txBox="1"/>
          <p:nvPr/>
        </p:nvSpPr>
        <p:spPr>
          <a:xfrm>
            <a:off x="4673600" y="3378200"/>
            <a:ext cx="2730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Node.js | Express.js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BBEF3C-59B0-61FC-0F1C-2F113F719EA1}"/>
              </a:ext>
            </a:extLst>
          </p:cNvPr>
          <p:cNvSpPr txBox="1"/>
          <p:nvPr/>
        </p:nvSpPr>
        <p:spPr>
          <a:xfrm>
            <a:off x="4673600" y="3962400"/>
            <a:ext cx="2730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200">
                <a:solidFill>
                  <a:srgbClr val="687880"/>
                </a:solidFill>
                <a:latin typeface="Aptos" panose="020B0004020202020204" pitchFamily="34" charset="0"/>
              </a:rPr>
              <a:t>Routes, validation, login and order workflow</a:t>
            </a:r>
            <a:endParaRPr lang="en-ZW" sz="12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587D7DE-0AEB-5244-9DE3-62678F3720B0}"/>
              </a:ext>
            </a:extLst>
          </p:cNvPr>
          <p:cNvSpPr/>
          <p:nvPr/>
        </p:nvSpPr>
        <p:spPr>
          <a:xfrm>
            <a:off x="8089900" y="2705100"/>
            <a:ext cx="3175000" cy="19685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F2C9C6-DF6A-F084-6EEE-475080EFBD99}"/>
              </a:ext>
            </a:extLst>
          </p:cNvPr>
          <p:cNvSpPr txBox="1"/>
          <p:nvPr/>
        </p:nvSpPr>
        <p:spPr>
          <a:xfrm>
            <a:off x="8318500" y="2933700"/>
            <a:ext cx="2667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100" b="1">
                <a:solidFill>
                  <a:srgbClr val="43BE8B"/>
                </a:solidFill>
                <a:latin typeface="Aptos" panose="020B0004020202020204" pitchFamily="34" charset="0"/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01AF6D-BB39-7E9D-88EE-5CA63D11314D}"/>
              </a:ext>
            </a:extLst>
          </p:cNvPr>
          <p:cNvSpPr txBox="1"/>
          <p:nvPr/>
        </p:nvSpPr>
        <p:spPr>
          <a:xfrm>
            <a:off x="8318500" y="3378200"/>
            <a:ext cx="2730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SQLite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562C90-FBE5-87BD-BC46-4CBA04A7518C}"/>
              </a:ext>
            </a:extLst>
          </p:cNvPr>
          <p:cNvSpPr txBox="1"/>
          <p:nvPr/>
        </p:nvSpPr>
        <p:spPr>
          <a:xfrm>
            <a:off x="8318500" y="3962400"/>
            <a:ext cx="2730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200">
                <a:solidFill>
                  <a:srgbClr val="687880"/>
                </a:solidFill>
                <a:latin typeface="Aptos" panose="020B0004020202020204" pitchFamily="34" charset="0"/>
              </a:rPr>
              <a:t>Menu, orders, order items and user accounts</a:t>
            </a:r>
            <a:endParaRPr lang="en-ZW" sz="12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A59C1D-7FB4-536E-377D-9E31B67DE1FA}"/>
              </a:ext>
            </a:extLst>
          </p:cNvPr>
          <p:cNvSpPr txBox="1"/>
          <p:nvPr/>
        </p:nvSpPr>
        <p:spPr>
          <a:xfrm>
            <a:off x="965200" y="5219700"/>
            <a:ext cx="10287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500" b="1">
                <a:solidFill>
                  <a:srgbClr val="111F30"/>
                </a:solidFill>
                <a:latin typeface="Aptos" panose="020B0004020202020204" pitchFamily="34" charset="0"/>
              </a:rPr>
              <a:t>Current database: local SQLite file. An online database and website deployment are not yet part of the confirmed demo setup.</a:t>
            </a:r>
            <a:endParaRPr lang="en-ZW" sz="1500" b="1">
              <a:solidFill>
                <a:srgbClr val="111F3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479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5441C2-56F6-A828-5D69-AD5637706FC3}"/>
              </a:ext>
            </a:extLst>
          </p:cNvPr>
          <p:cNvSpPr txBox="1"/>
          <p:nvPr/>
        </p:nvSpPr>
        <p:spPr>
          <a:xfrm>
            <a:off x="711200" y="406400"/>
            <a:ext cx="10414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100" b="1">
                <a:solidFill>
                  <a:srgbClr val="43BE8B"/>
                </a:solidFill>
                <a:latin typeface="Aptos" panose="020B0004020202020204" pitchFamily="34" charset="0"/>
              </a:rPr>
              <a:t>06 | LANGUAGES AND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EF8753-20F2-1BDA-12D1-145D2188B3A2}"/>
              </a:ext>
            </a:extLst>
          </p:cNvPr>
          <p:cNvSpPr txBox="1"/>
          <p:nvPr/>
        </p:nvSpPr>
        <p:spPr>
          <a:xfrm>
            <a:off x="711200" y="787400"/>
            <a:ext cx="10795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2900" b="1">
                <a:solidFill>
                  <a:srgbClr val="111F30"/>
                </a:solidFill>
                <a:latin typeface="Aptos" panose="020B0004020202020204" pitchFamily="34" charset="0"/>
              </a:rPr>
              <a:t>Technology stack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A5C87-3F1E-379B-EA82-8FDE5AE63D99}"/>
              </a:ext>
            </a:extLst>
          </p:cNvPr>
          <p:cNvSpPr txBox="1"/>
          <p:nvPr/>
        </p:nvSpPr>
        <p:spPr>
          <a:xfrm>
            <a:off x="723900" y="1498600"/>
            <a:ext cx="10604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400">
                <a:solidFill>
                  <a:srgbClr val="687880"/>
                </a:solidFill>
                <a:latin typeface="Aptos" panose="020B0004020202020204" pitchFamily="34" charset="0"/>
              </a:rPr>
              <a:t>Seven verified stack components from the project files: languages, runtime, framework and database.</a:t>
            </a:r>
            <a:endParaRPr lang="en-ZW" sz="14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9E0289-729E-9101-8222-159456F98A9D}"/>
              </a:ext>
            </a:extLst>
          </p:cNvPr>
          <p:cNvSpPr/>
          <p:nvPr/>
        </p:nvSpPr>
        <p:spPr>
          <a:xfrm>
            <a:off x="711200" y="6413500"/>
            <a:ext cx="10769600" cy="12700"/>
          </a:xfrm>
          <a:prstGeom prst="rect">
            <a:avLst/>
          </a:prstGeom>
          <a:solidFill>
            <a:srgbClr val="EDF3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965EC-BE00-5FD5-24F4-FB22293A915D}"/>
              </a:ext>
            </a:extLst>
          </p:cNvPr>
          <p:cNvSpPr txBox="1"/>
          <p:nvPr/>
        </p:nvSpPr>
        <p:spPr>
          <a:xfrm>
            <a:off x="711200" y="6502400"/>
            <a:ext cx="9017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900">
                <a:solidFill>
                  <a:srgbClr val="687880"/>
                </a:solidFill>
                <a:latin typeface="Aptos" panose="020B0004020202020204" pitchFamily="34" charset="0"/>
              </a:rPr>
              <a:t>INTELLIGENT DIET MONITORING  |  PROJECT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405379-9FF7-9D1A-B01A-CB54293F6312}"/>
              </a:ext>
            </a:extLst>
          </p:cNvPr>
          <p:cNvSpPr txBox="1"/>
          <p:nvPr/>
        </p:nvSpPr>
        <p:spPr>
          <a:xfrm>
            <a:off x="10985500" y="6477000"/>
            <a:ext cx="4826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000" b="1">
                <a:solidFill>
                  <a:srgbClr val="43BE8B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1A5FAA-F9D0-6093-31B8-A50DA951D653}"/>
              </a:ext>
            </a:extLst>
          </p:cNvPr>
          <p:cNvSpPr/>
          <p:nvPr/>
        </p:nvSpPr>
        <p:spPr>
          <a:xfrm>
            <a:off x="736600" y="2247900"/>
            <a:ext cx="25654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8D3DCB-A2F7-2D78-D08F-5173D871C70B}"/>
              </a:ext>
            </a:extLst>
          </p:cNvPr>
          <p:cNvSpPr txBox="1"/>
          <p:nvPr/>
        </p:nvSpPr>
        <p:spPr>
          <a:xfrm>
            <a:off x="927100" y="2451100"/>
            <a:ext cx="2235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HTML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89516F-5096-0225-B046-DC2909836910}"/>
              </a:ext>
            </a:extLst>
          </p:cNvPr>
          <p:cNvSpPr txBox="1"/>
          <p:nvPr/>
        </p:nvSpPr>
        <p:spPr>
          <a:xfrm>
            <a:off x="927100" y="2921000"/>
            <a:ext cx="2235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200">
                <a:solidFill>
                  <a:srgbClr val="687880"/>
                </a:solidFill>
                <a:latin typeface="Aptos" panose="020B0004020202020204" pitchFamily="34" charset="0"/>
              </a:rPr>
              <a:t>Page structure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618BB0-B358-0D06-73F1-7A4F1801695B}"/>
              </a:ext>
            </a:extLst>
          </p:cNvPr>
          <p:cNvSpPr/>
          <p:nvPr/>
        </p:nvSpPr>
        <p:spPr>
          <a:xfrm>
            <a:off x="3581400" y="2247900"/>
            <a:ext cx="25654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EA47FC-B841-806A-9669-6252E2C5CC96}"/>
              </a:ext>
            </a:extLst>
          </p:cNvPr>
          <p:cNvSpPr txBox="1"/>
          <p:nvPr/>
        </p:nvSpPr>
        <p:spPr>
          <a:xfrm>
            <a:off x="3771900" y="2451100"/>
            <a:ext cx="2235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CSS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65E642-649E-3E09-0CE8-52582EE96F76}"/>
              </a:ext>
            </a:extLst>
          </p:cNvPr>
          <p:cNvSpPr txBox="1"/>
          <p:nvPr/>
        </p:nvSpPr>
        <p:spPr>
          <a:xfrm>
            <a:off x="3771900" y="2921000"/>
            <a:ext cx="2235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200">
                <a:solidFill>
                  <a:srgbClr val="687880"/>
                </a:solidFill>
                <a:latin typeface="Aptos" panose="020B0004020202020204" pitchFamily="34" charset="0"/>
              </a:rPr>
              <a:t>Visual styling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EF8A2D-66C9-9988-6885-669F003D9154}"/>
              </a:ext>
            </a:extLst>
          </p:cNvPr>
          <p:cNvSpPr/>
          <p:nvPr/>
        </p:nvSpPr>
        <p:spPr>
          <a:xfrm>
            <a:off x="6426200" y="2247900"/>
            <a:ext cx="25654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AE7B5D-35D3-E609-3785-58C7B88EE87F}"/>
              </a:ext>
            </a:extLst>
          </p:cNvPr>
          <p:cNvSpPr txBox="1"/>
          <p:nvPr/>
        </p:nvSpPr>
        <p:spPr>
          <a:xfrm>
            <a:off x="6616700" y="2451100"/>
            <a:ext cx="2235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JavaScript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22141E-A92E-D8BF-9394-A417C60264AA}"/>
              </a:ext>
            </a:extLst>
          </p:cNvPr>
          <p:cNvSpPr txBox="1"/>
          <p:nvPr/>
        </p:nvSpPr>
        <p:spPr>
          <a:xfrm>
            <a:off x="6616700" y="2921000"/>
            <a:ext cx="2235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200">
                <a:solidFill>
                  <a:srgbClr val="687880"/>
                </a:solidFill>
                <a:latin typeface="Aptos" panose="020B0004020202020204" pitchFamily="34" charset="0"/>
              </a:rPr>
              <a:t>Browser and server logic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B80761-72C1-F946-E0AB-7BD55E45300E}"/>
              </a:ext>
            </a:extLst>
          </p:cNvPr>
          <p:cNvSpPr/>
          <p:nvPr/>
        </p:nvSpPr>
        <p:spPr>
          <a:xfrm>
            <a:off x="9271000" y="2247900"/>
            <a:ext cx="25654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985141-E6E8-5B13-9028-425A03C0A04D}"/>
              </a:ext>
            </a:extLst>
          </p:cNvPr>
          <p:cNvSpPr txBox="1"/>
          <p:nvPr/>
        </p:nvSpPr>
        <p:spPr>
          <a:xfrm>
            <a:off x="9461500" y="2451100"/>
            <a:ext cx="2235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SQL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6BB016-012A-DB46-4DA1-367DFDEE0154}"/>
              </a:ext>
            </a:extLst>
          </p:cNvPr>
          <p:cNvSpPr txBox="1"/>
          <p:nvPr/>
        </p:nvSpPr>
        <p:spPr>
          <a:xfrm>
            <a:off x="9461500" y="2921000"/>
            <a:ext cx="2235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200">
                <a:solidFill>
                  <a:srgbClr val="687880"/>
                </a:solidFill>
                <a:latin typeface="Aptos" panose="020B0004020202020204" pitchFamily="34" charset="0"/>
              </a:rPr>
              <a:t>Database queries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4F2562B-17A7-8AE4-F2AF-C7F00D16DD77}"/>
              </a:ext>
            </a:extLst>
          </p:cNvPr>
          <p:cNvSpPr/>
          <p:nvPr/>
        </p:nvSpPr>
        <p:spPr>
          <a:xfrm>
            <a:off x="2159000" y="4064000"/>
            <a:ext cx="25654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227055-D819-EE44-1863-286741AEA07A}"/>
              </a:ext>
            </a:extLst>
          </p:cNvPr>
          <p:cNvSpPr txBox="1"/>
          <p:nvPr/>
        </p:nvSpPr>
        <p:spPr>
          <a:xfrm>
            <a:off x="2349500" y="4267200"/>
            <a:ext cx="2235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Node.js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1702FF-35B3-69BF-C29E-F121B6238D66}"/>
              </a:ext>
            </a:extLst>
          </p:cNvPr>
          <p:cNvSpPr txBox="1"/>
          <p:nvPr/>
        </p:nvSpPr>
        <p:spPr>
          <a:xfrm>
            <a:off x="2349500" y="4737100"/>
            <a:ext cx="2235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200">
                <a:solidFill>
                  <a:srgbClr val="687880"/>
                </a:solidFill>
                <a:latin typeface="Aptos" panose="020B0004020202020204" pitchFamily="34" charset="0"/>
              </a:rPr>
              <a:t>JavaScript runtime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13A0618-EE57-2BE5-58B7-8DAF2F15BF55}"/>
              </a:ext>
            </a:extLst>
          </p:cNvPr>
          <p:cNvSpPr/>
          <p:nvPr/>
        </p:nvSpPr>
        <p:spPr>
          <a:xfrm>
            <a:off x="5003800" y="4064000"/>
            <a:ext cx="25654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6318C6-70B0-118F-A03D-D12B008B54BC}"/>
              </a:ext>
            </a:extLst>
          </p:cNvPr>
          <p:cNvSpPr txBox="1"/>
          <p:nvPr/>
        </p:nvSpPr>
        <p:spPr>
          <a:xfrm>
            <a:off x="5194300" y="4267200"/>
            <a:ext cx="2235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Express.js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68A3CE-8B33-D861-ADD1-E37C8D207A6E}"/>
              </a:ext>
            </a:extLst>
          </p:cNvPr>
          <p:cNvSpPr txBox="1"/>
          <p:nvPr/>
        </p:nvSpPr>
        <p:spPr>
          <a:xfrm>
            <a:off x="5194300" y="4737100"/>
            <a:ext cx="2235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200">
                <a:solidFill>
                  <a:srgbClr val="687880"/>
                </a:solidFill>
                <a:latin typeface="Aptos" panose="020B0004020202020204" pitchFamily="34" charset="0"/>
              </a:rPr>
              <a:t>Web server framework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E19CA8A-65CA-FD1E-C320-5F21DD0D9EA7}"/>
              </a:ext>
            </a:extLst>
          </p:cNvPr>
          <p:cNvSpPr/>
          <p:nvPr/>
        </p:nvSpPr>
        <p:spPr>
          <a:xfrm>
            <a:off x="7848600" y="4064000"/>
            <a:ext cx="25654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C952F6-5C44-F4D2-8816-E80CF65FD4B4}"/>
              </a:ext>
            </a:extLst>
          </p:cNvPr>
          <p:cNvSpPr txBox="1"/>
          <p:nvPr/>
        </p:nvSpPr>
        <p:spPr>
          <a:xfrm>
            <a:off x="8039100" y="4267200"/>
            <a:ext cx="2235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SQLite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A68049-084B-F46D-D819-3DECE04B3464}"/>
              </a:ext>
            </a:extLst>
          </p:cNvPr>
          <p:cNvSpPr txBox="1"/>
          <p:nvPr/>
        </p:nvSpPr>
        <p:spPr>
          <a:xfrm>
            <a:off x="8039100" y="4737100"/>
            <a:ext cx="2235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200">
                <a:solidFill>
                  <a:srgbClr val="687880"/>
                </a:solidFill>
                <a:latin typeface="Aptos" panose="020B0004020202020204" pitchFamily="34" charset="0"/>
              </a:rPr>
              <a:t>Embedded database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4E1FD5-A848-445A-94AD-565F6730B5DD}"/>
              </a:ext>
            </a:extLst>
          </p:cNvPr>
          <p:cNvSpPr txBox="1"/>
          <p:nvPr/>
        </p:nvSpPr>
        <p:spPr>
          <a:xfrm>
            <a:off x="952500" y="5689600"/>
            <a:ext cx="10223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100">
                <a:solidFill>
                  <a:srgbClr val="687880"/>
                </a:solidFill>
                <a:latin typeface="Aptos" panose="020B0004020202020204" pitchFamily="34" charset="0"/>
              </a:rPr>
              <a:t>These are not seven distinct programming languages. The source confirms HTML, CSS, JavaScript and SQL; the others are platform/tools.</a:t>
            </a:r>
            <a:endParaRPr lang="en-ZW" sz="11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163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AC4F6C-40C3-C688-55C7-FD35BD0964F9}"/>
              </a:ext>
            </a:extLst>
          </p:cNvPr>
          <p:cNvSpPr txBox="1"/>
          <p:nvPr/>
        </p:nvSpPr>
        <p:spPr>
          <a:xfrm>
            <a:off x="711200" y="406400"/>
            <a:ext cx="10414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100" b="1">
                <a:solidFill>
                  <a:srgbClr val="43BE8B"/>
                </a:solidFill>
                <a:latin typeface="Aptos" panose="020B0004020202020204" pitchFamily="34" charset="0"/>
              </a:rPr>
              <a:t>07 | DATABASE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073083-03FA-D887-4459-7B04A5E5B9A5}"/>
              </a:ext>
            </a:extLst>
          </p:cNvPr>
          <p:cNvSpPr txBox="1"/>
          <p:nvPr/>
        </p:nvSpPr>
        <p:spPr>
          <a:xfrm>
            <a:off x="711200" y="787400"/>
            <a:ext cx="10795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2900" b="1">
                <a:solidFill>
                  <a:srgbClr val="111F30"/>
                </a:solidFill>
                <a:latin typeface="Aptos" panose="020B0004020202020204" pitchFamily="34" charset="0"/>
              </a:rPr>
              <a:t>Database: SQLite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063802-3C20-BC31-7BA9-5507E0C15289}"/>
              </a:ext>
            </a:extLst>
          </p:cNvPr>
          <p:cNvSpPr txBox="1"/>
          <p:nvPr/>
        </p:nvSpPr>
        <p:spPr>
          <a:xfrm>
            <a:off x="723900" y="1498600"/>
            <a:ext cx="10604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400">
                <a:solidFill>
                  <a:srgbClr val="687880"/>
                </a:solidFill>
                <a:latin typeface="Aptos" panose="020B0004020202020204" pitchFamily="34" charset="0"/>
              </a:rPr>
              <a:t>SQLite is the current local database; DB Browser for SQLite can inspect the .db file.</a:t>
            </a:r>
            <a:endParaRPr lang="en-ZW" sz="14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80E7FE-554E-099D-8442-ED0BC49B2E6D}"/>
              </a:ext>
            </a:extLst>
          </p:cNvPr>
          <p:cNvSpPr/>
          <p:nvPr/>
        </p:nvSpPr>
        <p:spPr>
          <a:xfrm>
            <a:off x="711200" y="6413500"/>
            <a:ext cx="10769600" cy="12700"/>
          </a:xfrm>
          <a:prstGeom prst="rect">
            <a:avLst/>
          </a:prstGeom>
          <a:solidFill>
            <a:srgbClr val="EDF3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C1BEFC-0BB9-D6A6-E0FF-9BB32AF7F30B}"/>
              </a:ext>
            </a:extLst>
          </p:cNvPr>
          <p:cNvSpPr txBox="1"/>
          <p:nvPr/>
        </p:nvSpPr>
        <p:spPr>
          <a:xfrm>
            <a:off x="711200" y="6502400"/>
            <a:ext cx="9017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900">
                <a:solidFill>
                  <a:srgbClr val="687880"/>
                </a:solidFill>
                <a:latin typeface="Aptos" panose="020B0004020202020204" pitchFamily="34" charset="0"/>
              </a:rPr>
              <a:t>INTELLIGENT DIET MONITORING  |  PROJECT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49377D-D607-A04E-FC17-6A0EC053B55F}"/>
              </a:ext>
            </a:extLst>
          </p:cNvPr>
          <p:cNvSpPr txBox="1"/>
          <p:nvPr/>
        </p:nvSpPr>
        <p:spPr>
          <a:xfrm>
            <a:off x="10985500" y="6477000"/>
            <a:ext cx="4826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000" b="1">
                <a:solidFill>
                  <a:srgbClr val="43BE8B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C0BC05-F3B8-6DA5-0303-82EE902CDB88}"/>
              </a:ext>
            </a:extLst>
          </p:cNvPr>
          <p:cNvSpPr/>
          <p:nvPr/>
        </p:nvSpPr>
        <p:spPr>
          <a:xfrm>
            <a:off x="736600" y="2260600"/>
            <a:ext cx="5016500" cy="32893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CD3DE3-0B62-2BB9-8048-B468EABCC375}"/>
              </a:ext>
            </a:extLst>
          </p:cNvPr>
          <p:cNvSpPr/>
          <p:nvPr/>
        </p:nvSpPr>
        <p:spPr>
          <a:xfrm>
            <a:off x="736600" y="2260600"/>
            <a:ext cx="76200" cy="3289300"/>
          </a:xfrm>
          <a:prstGeom prst="rect">
            <a:avLst/>
          </a:prstGeom>
          <a:solidFill>
            <a:srgbClr val="43BE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70C7E0-5A48-ACFF-1BFD-44378BB0B5DF}"/>
              </a:ext>
            </a:extLst>
          </p:cNvPr>
          <p:cNvSpPr txBox="1"/>
          <p:nvPr/>
        </p:nvSpPr>
        <p:spPr>
          <a:xfrm>
            <a:off x="990600" y="2476500"/>
            <a:ext cx="45466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What it stores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E238B4-F5E5-4869-606F-D64E17666AE6}"/>
              </a:ext>
            </a:extLst>
          </p:cNvPr>
          <p:cNvSpPr txBox="1"/>
          <p:nvPr/>
        </p:nvSpPr>
        <p:spPr>
          <a:xfrm>
            <a:off x="990600" y="2933700"/>
            <a:ext cx="4521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menu_items - food names, descriptions and prices</a:t>
            </a:r>
          </a:p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orders - customer and order details</a:t>
            </a:r>
          </a:p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order_items - items and quantities</a:t>
            </a:r>
          </a:p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users - staff/admin accounts</a:t>
            </a:r>
            <a:endParaRPr lang="en-ZW" sz="13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DEB9F0A-03BF-A4A8-5B0F-84C05A413D37}"/>
              </a:ext>
            </a:extLst>
          </p:cNvPr>
          <p:cNvSpPr/>
          <p:nvPr/>
        </p:nvSpPr>
        <p:spPr>
          <a:xfrm>
            <a:off x="6261100" y="2260600"/>
            <a:ext cx="5181600" cy="32893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683BBD-A87C-ED4E-66B5-AE1CC3EB3E2F}"/>
              </a:ext>
            </a:extLst>
          </p:cNvPr>
          <p:cNvSpPr/>
          <p:nvPr/>
        </p:nvSpPr>
        <p:spPr>
          <a:xfrm>
            <a:off x="6261100" y="2260600"/>
            <a:ext cx="76200" cy="3289300"/>
          </a:xfrm>
          <a:prstGeom prst="rect">
            <a:avLst/>
          </a:prstGeom>
          <a:solidFill>
            <a:srgbClr val="F6AB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4DE7F9-3784-1A7D-D9F1-781793C0081F}"/>
              </a:ext>
            </a:extLst>
          </p:cNvPr>
          <p:cNvSpPr txBox="1"/>
          <p:nvPr/>
        </p:nvSpPr>
        <p:spPr>
          <a:xfrm>
            <a:off x="6515100" y="2476500"/>
            <a:ext cx="47117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700" b="1">
                <a:solidFill>
                  <a:srgbClr val="111F30"/>
                </a:solidFill>
                <a:latin typeface="Aptos" panose="020B0004020202020204" pitchFamily="34" charset="0"/>
              </a:rPr>
              <a:t>Why it fits this prototype</a:t>
            </a:r>
            <a:endParaRPr lang="en-ZW" sz="1700" b="1">
              <a:solidFill>
                <a:srgbClr val="111F30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9019C1-AA69-0EC1-94C1-8D2C8A753803}"/>
              </a:ext>
            </a:extLst>
          </p:cNvPr>
          <p:cNvSpPr txBox="1"/>
          <p:nvPr/>
        </p:nvSpPr>
        <p:spPr>
          <a:xfrm>
            <a:off x="6515100" y="2933700"/>
            <a:ext cx="46863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Lightweight and simple to run locally</a:t>
            </a:r>
          </a:p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Tables are initialized by the app</a:t>
            </a:r>
          </a:p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Data is read and written through the backend</a:t>
            </a:r>
          </a:p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DB Browser is a viewer/editor, not a database host</a:t>
            </a:r>
            <a:endParaRPr lang="en-ZW" sz="13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82522B-8BE9-3181-55A3-D1682715798A}"/>
              </a:ext>
            </a:extLst>
          </p:cNvPr>
          <p:cNvSpPr txBox="1"/>
          <p:nvPr/>
        </p:nvSpPr>
        <p:spPr>
          <a:xfrm>
            <a:off x="990600" y="5727700"/>
            <a:ext cx="10287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400" b="1">
                <a:solidFill>
                  <a:srgbClr val="111F30"/>
                </a:solidFill>
                <a:latin typeface="Aptos" panose="020B0004020202020204" pitchFamily="34" charset="0"/>
              </a:rPr>
              <a:t>For an online demo, hosting/migrating the database and deploying the web app are separate steps.</a:t>
            </a:r>
            <a:endParaRPr lang="en-ZW" sz="1400" b="1">
              <a:solidFill>
                <a:srgbClr val="111F3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026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BD0B2B-3B94-F13D-9826-13F4ECFE80FD}"/>
              </a:ext>
            </a:extLst>
          </p:cNvPr>
          <p:cNvSpPr txBox="1"/>
          <p:nvPr/>
        </p:nvSpPr>
        <p:spPr>
          <a:xfrm>
            <a:off x="711200" y="406400"/>
            <a:ext cx="10414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100" b="1">
                <a:solidFill>
                  <a:srgbClr val="43BE8B"/>
                </a:solidFill>
                <a:latin typeface="Aptos" panose="020B0004020202020204" pitchFamily="34" charset="0"/>
              </a:rPr>
              <a:t>08 | DEMONSTRATION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A937D6-6AF3-F52B-92A9-FF52AFB975E1}"/>
              </a:ext>
            </a:extLst>
          </p:cNvPr>
          <p:cNvSpPr txBox="1"/>
          <p:nvPr/>
        </p:nvSpPr>
        <p:spPr>
          <a:xfrm>
            <a:off x="711200" y="787400"/>
            <a:ext cx="10795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2900" b="1">
                <a:solidFill>
                  <a:srgbClr val="111F30"/>
                </a:solidFill>
                <a:latin typeface="Aptos" panose="020B0004020202020204" pitchFamily="34" charset="0"/>
              </a:rPr>
              <a:t>Demo plan and next steps</a:t>
            </a:r>
            <a:endParaRPr lang="en-ZW" sz="2900" b="1">
              <a:solidFill>
                <a:srgbClr val="111F3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AC632-4A15-D43B-11B3-34923C402982}"/>
              </a:ext>
            </a:extLst>
          </p:cNvPr>
          <p:cNvSpPr txBox="1"/>
          <p:nvPr/>
        </p:nvSpPr>
        <p:spPr>
          <a:xfrm>
            <a:off x="723900" y="1498600"/>
            <a:ext cx="106045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400">
                <a:solidFill>
                  <a:srgbClr val="687880"/>
                </a:solidFill>
                <a:latin typeface="Aptos" panose="020B0004020202020204" pitchFamily="34" charset="0"/>
              </a:rPr>
              <a:t>Show what works today, then explain the roadmap clearly.</a:t>
            </a:r>
            <a:endParaRPr lang="en-ZW" sz="14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493178-329E-087A-C418-8BD908A158C4}"/>
              </a:ext>
            </a:extLst>
          </p:cNvPr>
          <p:cNvSpPr/>
          <p:nvPr/>
        </p:nvSpPr>
        <p:spPr>
          <a:xfrm>
            <a:off x="711200" y="6413500"/>
            <a:ext cx="10769600" cy="12700"/>
          </a:xfrm>
          <a:prstGeom prst="rect">
            <a:avLst/>
          </a:prstGeom>
          <a:solidFill>
            <a:srgbClr val="EDF3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48E2E-8BDC-E1DB-FD3F-A9DD9AB1B3C5}"/>
              </a:ext>
            </a:extLst>
          </p:cNvPr>
          <p:cNvSpPr txBox="1"/>
          <p:nvPr/>
        </p:nvSpPr>
        <p:spPr>
          <a:xfrm>
            <a:off x="711200" y="6502400"/>
            <a:ext cx="9017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900">
                <a:solidFill>
                  <a:srgbClr val="687880"/>
                </a:solidFill>
                <a:latin typeface="Aptos" panose="020B0004020202020204" pitchFamily="34" charset="0"/>
              </a:rPr>
              <a:t>INTELLIGENT DIET MONITORING  |  PROJECT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E5F9B2-0F4D-919E-E4BE-DB2F019DBC97}"/>
              </a:ext>
            </a:extLst>
          </p:cNvPr>
          <p:cNvSpPr txBox="1"/>
          <p:nvPr/>
        </p:nvSpPr>
        <p:spPr>
          <a:xfrm>
            <a:off x="10985500" y="6477000"/>
            <a:ext cx="4826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000" b="1">
                <a:solidFill>
                  <a:srgbClr val="43BE8B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E3B85A-33DA-0CF4-A631-F09A1F19386A}"/>
              </a:ext>
            </a:extLst>
          </p:cNvPr>
          <p:cNvSpPr/>
          <p:nvPr/>
        </p:nvSpPr>
        <p:spPr>
          <a:xfrm>
            <a:off x="736600" y="2273300"/>
            <a:ext cx="5016500" cy="31877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8CFD7D-F470-E663-4366-7F1AB99FC4A5}"/>
              </a:ext>
            </a:extLst>
          </p:cNvPr>
          <p:cNvSpPr/>
          <p:nvPr/>
        </p:nvSpPr>
        <p:spPr>
          <a:xfrm>
            <a:off x="736600" y="2273300"/>
            <a:ext cx="76200" cy="3187700"/>
          </a:xfrm>
          <a:prstGeom prst="rect">
            <a:avLst/>
          </a:prstGeom>
          <a:solidFill>
            <a:srgbClr val="43BE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BFB1BD-F76F-05ED-C875-10F886738EED}"/>
              </a:ext>
            </a:extLst>
          </p:cNvPr>
          <p:cNvSpPr txBox="1"/>
          <p:nvPr/>
        </p:nvSpPr>
        <p:spPr>
          <a:xfrm>
            <a:off x="990600" y="2489200"/>
            <a:ext cx="45466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Live demo today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6BFA8E-79D7-DA7D-03FE-68E136CFD6F4}"/>
              </a:ext>
            </a:extLst>
          </p:cNvPr>
          <p:cNvSpPr txBox="1"/>
          <p:nvPr/>
        </p:nvSpPr>
        <p:spPr>
          <a:xfrm>
            <a:off x="990600" y="2946400"/>
            <a:ext cx="45212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1. Start the Node.js app</a:t>
            </a:r>
          </a:p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2. Browse the customer menu</a:t>
            </a:r>
          </a:p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3. Place a sample order</a:t>
            </a:r>
          </a:p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4. Show restaurant status updates</a:t>
            </a:r>
          </a:p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5. Show delivery progress and stored records</a:t>
            </a:r>
            <a:endParaRPr lang="en-ZW" sz="13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23309DC-9105-D574-E5D5-604D769D75D3}"/>
              </a:ext>
            </a:extLst>
          </p:cNvPr>
          <p:cNvSpPr/>
          <p:nvPr/>
        </p:nvSpPr>
        <p:spPr>
          <a:xfrm>
            <a:off x="6261100" y="2273300"/>
            <a:ext cx="5181600" cy="31877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470B81-355C-B3A3-F886-8D75A9585591}"/>
              </a:ext>
            </a:extLst>
          </p:cNvPr>
          <p:cNvSpPr/>
          <p:nvPr/>
        </p:nvSpPr>
        <p:spPr>
          <a:xfrm>
            <a:off x="6261100" y="2273300"/>
            <a:ext cx="76200" cy="3187700"/>
          </a:xfrm>
          <a:prstGeom prst="rect">
            <a:avLst/>
          </a:prstGeom>
          <a:solidFill>
            <a:srgbClr val="F6AB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DB465B-0538-4350-3B24-CE4043AE7F05}"/>
              </a:ext>
            </a:extLst>
          </p:cNvPr>
          <p:cNvSpPr txBox="1"/>
          <p:nvPr/>
        </p:nvSpPr>
        <p:spPr>
          <a:xfrm>
            <a:off x="6515100" y="2489200"/>
            <a:ext cx="47117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1700" b="1">
                <a:solidFill>
                  <a:srgbClr val="111F30"/>
                </a:solidFill>
                <a:latin typeface="Aptos" panose="020B0004020202020204" pitchFamily="34" charset="0"/>
              </a:rPr>
              <a:t>Next development steps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40EC6E-2672-3206-5CA8-D213F051947A}"/>
              </a:ext>
            </a:extLst>
          </p:cNvPr>
          <p:cNvSpPr txBox="1"/>
          <p:nvPr/>
        </p:nvSpPr>
        <p:spPr>
          <a:xfrm>
            <a:off x="6515100" y="2946400"/>
            <a:ext cx="46863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Add meal logging and dietary goals</a:t>
            </a:r>
          </a:p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Choose and prepare nutrition data</a:t>
            </a:r>
          </a:p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Build and evaluate the AI model</a:t>
            </a:r>
          </a:p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Connect predictions to the user interface</a:t>
            </a:r>
          </a:p>
          <a:p>
            <a:r>
              <a:rPr lang="en-GB" sz="1300">
                <a:solidFill>
                  <a:srgbClr val="687880"/>
                </a:solidFill>
                <a:latin typeface="Aptos" panose="020B0004020202020204" pitchFamily="34" charset="0"/>
              </a:rPr>
              <a:t>Test recommendations and deploy online</a:t>
            </a:r>
            <a:endParaRPr lang="en-ZW" sz="1300">
              <a:solidFill>
                <a:srgbClr val="687880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BF269E-DBC0-942A-8C5A-7EF24FCF4696}"/>
              </a:ext>
            </a:extLst>
          </p:cNvPr>
          <p:cNvSpPr txBox="1"/>
          <p:nvPr/>
        </p:nvSpPr>
        <p:spPr>
          <a:xfrm>
            <a:off x="787400" y="5740400"/>
            <a:ext cx="10541000" cy="302647"/>
          </a:xfrm>
          <a:prstGeom prst="rect">
            <a:avLst/>
          </a:prstGeom>
          <a:noFill/>
        </p:spPr>
        <p:txBody>
          <a:bodyPr vert="horz" wrap="square" lIns="12700" tIns="12700" rIns="12700" bIns="12700" rtlCol="0">
            <a:noAutofit/>
          </a:bodyPr>
          <a:lstStyle/>
          <a:p>
            <a:r>
              <a:rPr lang="en-ZW" sz="2200" b="1">
                <a:solidFill>
                  <a:srgbClr val="111F30"/>
                </a:solidFill>
                <a:latin typeface="Aptos" panose="020B0004020202020204" pitchFamily="34" charset="0"/>
              </a:rPr>
              <a:t>Thank you  |  Questions?</a:t>
            </a:r>
          </a:p>
        </p:txBody>
      </p:sp>
    </p:spTree>
    <p:extLst>
      <p:ext uri="{BB962C8B-B14F-4D97-AF65-F5344CB8AC3E}">
        <p14:creationId xmlns:p14="http://schemas.microsoft.com/office/powerpoint/2010/main" val="2014376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794</Words>
  <Application>Microsoft Office PowerPoint</Application>
  <PresentationFormat>Widescreen</PresentationFormat>
  <Paragraphs>135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Anesu Maweni</dc:creator>
  <cp:lastModifiedBy>Anesu Maweni</cp:lastModifiedBy>
  <cp:revision>3</cp:revision>
  <dcterms:created xsi:type="dcterms:W3CDTF">2026-10-08T19:55:42Z</dcterms:created>
  <dcterms:modified xsi:type="dcterms:W3CDTF">2026-10-09T20:21:25Z</dcterms:modified>
</cp:coreProperties>
</file>